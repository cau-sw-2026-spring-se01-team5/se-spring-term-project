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9" r:id="rId3"/>
    <p:sldId id="258" r:id="rId4"/>
    <p:sldId id="390" r:id="rId5"/>
    <p:sldId id="391" r:id="rId6"/>
    <p:sldId id="393" r:id="rId7"/>
    <p:sldId id="394" r:id="rId8"/>
    <p:sldId id="772" r:id="rId9"/>
    <p:sldId id="395" r:id="rId10"/>
    <p:sldId id="397" r:id="rId11"/>
    <p:sldId id="396" r:id="rId12"/>
    <p:sldId id="398" r:id="rId13"/>
    <p:sldId id="773" r:id="rId14"/>
    <p:sldId id="774" r:id="rId15"/>
    <p:sldId id="775" r:id="rId16"/>
    <p:sldId id="776" r:id="rId17"/>
    <p:sldId id="777" r:id="rId18"/>
    <p:sldId id="778" r:id="rId19"/>
    <p:sldId id="779" r:id="rId20"/>
    <p:sldId id="780" r:id="rId21"/>
    <p:sldId id="781" r:id="rId22"/>
    <p:sldId id="782" r:id="rId23"/>
    <p:sldId id="783" r:id="rId24"/>
    <p:sldId id="784" r:id="rId25"/>
    <p:sldId id="785" r:id="rId26"/>
    <p:sldId id="786" r:id="rId27"/>
    <p:sldId id="787" r:id="rId28"/>
    <p:sldId id="788" r:id="rId29"/>
    <p:sldId id="789" r:id="rId30"/>
    <p:sldId id="790" r:id="rId31"/>
    <p:sldId id="791" r:id="rId32"/>
    <p:sldId id="792" r:id="rId33"/>
  </p:sldIdLst>
  <p:sldSz cx="12192000" cy="6858000"/>
  <p:notesSz cx="6858000" cy="9144000"/>
  <p:embeddedFontLst>
    <p:embeddedFont>
      <p:font typeface="Malgun Gothic" panose="020B0503020000020004" pitchFamily="50" charset="-127"/>
      <p:regular r:id="rId35"/>
      <p:bold r:id="rId36"/>
    </p:embeddedFont>
    <p:embeddedFont>
      <p:font typeface="Pretendard ExtraBold" panose="02000903000000020004" pitchFamily="50" charset="-127"/>
      <p:bold r:id="rId37"/>
    </p:embeddedFont>
    <p:embeddedFont>
      <p:font typeface="Pretendard Medium" panose="02000603000000020004" pitchFamily="50" charset="-127"/>
      <p:regular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59701545-E323-497E-B78C-58138F79611A}">
          <p14:sldIdLst>
            <p14:sldId id="256"/>
            <p14:sldId id="259"/>
            <p14:sldId id="258"/>
            <p14:sldId id="390"/>
            <p14:sldId id="391"/>
            <p14:sldId id="393"/>
            <p14:sldId id="394"/>
            <p14:sldId id="772"/>
            <p14:sldId id="395"/>
            <p14:sldId id="397"/>
            <p14:sldId id="396"/>
            <p14:sldId id="398"/>
            <p14:sldId id="773"/>
            <p14:sldId id="774"/>
            <p14:sldId id="775"/>
            <p14:sldId id="776"/>
            <p14:sldId id="777"/>
            <p14:sldId id="778"/>
            <p14:sldId id="779"/>
            <p14:sldId id="780"/>
            <p14:sldId id="781"/>
            <p14:sldId id="782"/>
            <p14:sldId id="783"/>
            <p14:sldId id="784"/>
            <p14:sldId id="785"/>
            <p14:sldId id="786"/>
            <p14:sldId id="787"/>
            <p14:sldId id="788"/>
            <p14:sldId id="789"/>
            <p14:sldId id="790"/>
            <p14:sldId id="791"/>
            <p14:sldId id="79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46">
          <p15:clr>
            <a:srgbClr val="A4A3A4"/>
          </p15:clr>
        </p15:guide>
        <p15:guide id="2" pos="347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pos="7333">
          <p15:clr>
            <a:srgbClr val="A4A3A4"/>
          </p15:clr>
        </p15:guide>
        <p15:guide id="5" pos="733">
          <p15:clr>
            <a:srgbClr val="A4A3A4"/>
          </p15:clr>
        </p15:guide>
        <p15:guide id="6" pos="6947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9" roundtripDataSignature="AMtx7mgfxrlYJeau3Ucoa2ISUga+Rmo1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111AE48-65EE-489D-A055-B4651042D9D9}">
  <a:tblStyle styleId="{D111AE48-65EE-489D-A055-B4651042D9D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B74BD82-B7F2-486B-955A-B49AED14F69F}" styleName="Table_1">
    <a:wholeTbl>
      <a:tcTxStyle b="off" i="off">
        <a:font>
          <a:latin typeface="Pretendard Light"/>
          <a:ea typeface="Pretendard Light"/>
          <a:cs typeface="Pretendard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AE6EA"/>
          </a:solidFill>
        </a:fill>
      </a:tcStyle>
    </a:wholeTbl>
    <a:band1H>
      <a:tcTxStyle/>
      <a:tcStyle>
        <a:tcBdr/>
        <a:fill>
          <a:solidFill>
            <a:srgbClr val="D1CAD2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1CAD2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Pretendard Light"/>
          <a:ea typeface="Pretendard Light"/>
          <a:cs typeface="Pretendard Ligh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Pretendard Light"/>
          <a:ea typeface="Pretendard Light"/>
          <a:cs typeface="Pretendard Ligh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Pretendard Light"/>
          <a:ea typeface="Pretendard Light"/>
          <a:cs typeface="Pretendard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Pretendard Light"/>
          <a:ea typeface="Pretendard Light"/>
          <a:cs typeface="Pretendard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D480CB1-2A36-4409-BA20-9748F8679474}" styleName="Table_2">
    <a:wholeTbl>
      <a:tcTxStyle b="off" i="off">
        <a:font>
          <a:latin typeface="Pretendard Light"/>
          <a:ea typeface="Pretendard Light"/>
          <a:cs typeface="Pretendard Light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>
        <p:guide orient="horz" pos="346"/>
        <p:guide pos="347"/>
        <p:guide orient="horz" pos="3974"/>
        <p:guide pos="7333"/>
        <p:guide pos="733"/>
        <p:guide pos="694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8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79" Type="http://customschemas.google.com/relationships/presentationmetadata" Target="metadata"/><Relationship Id="rId18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8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180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ko-KR" sz="12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05. </a:t>
            </a:r>
            <a:r>
              <a:rPr lang="ko-KR" altLang="en-US" sz="12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주요 </a:t>
            </a:r>
            <a:r>
              <a:rPr lang="en-US" altLang="ko-KR" sz="12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UI </a:t>
            </a:r>
            <a:r>
              <a:rPr lang="ko-KR" altLang="en-US" sz="12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소개 및 시연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56DCCF34-D3FF-2C69-6117-DA7A9762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CE207740-CD76-C7C1-FCF9-17257E052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E071E3E5-7877-8322-8C15-343D5E3CD0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39EA728C-12F4-0DFF-AAF1-097BC57D00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4935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62BFF725-0280-4F5E-E8CD-A6C24E61D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0CA4021A-1E44-09F9-D5AB-4E5A452889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F5F6FE21-EDFD-FC7B-B945-26CA589CD9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36DDBA49-ED33-06C8-EF14-29EC39F8EC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8831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01991329-4D62-E783-D73F-8F9695D33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7DD78D66-14D3-5FBF-2864-ED564675C9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6E77CF0A-1777-90D7-4844-520AB1829D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9746E4AA-0A9F-BB10-1379-E3BA29D346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1737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D0E854AE-DEB2-EF6F-101C-A5B2DDC73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B5435B3C-671A-B02D-3AEC-0B03CFE62C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7AA81F4B-6BDF-4FAE-3038-E60775A95D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BC07170F-585C-54B2-828C-D9ACDBF343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40205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1D7E5C7A-DA36-5583-2749-A73FE138E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CFC23641-FB6A-7822-B4BD-0643C74EAC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527677A3-B1CA-D4E2-BC26-29837C7492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8AB29D55-9EDF-622C-9138-D6D04608FA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8630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62DAEE38-E94F-BBC7-EA5A-1C5723522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FD4522DC-3AF7-F2C5-0E60-60435FFC47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E3729522-8D6A-19C0-9595-E5F51CFCB1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6D6D6D0E-C578-F315-ECAB-8E2DB54A1C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9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1704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7EE5A05C-C1A6-2826-9433-5E8588610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42D6979E-4E09-2230-4CC2-1603505EBA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A7DDE5C8-87D0-EA60-A25E-32A979BD5F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3F4885FB-55DD-F339-7D82-B46E9F39BE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63927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1FB946A3-EC03-A1F4-CE17-CE7E1370E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A89D7783-8861-7C9D-68A9-6B598A69AB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7994364C-518F-39ED-BCDE-5C76E64838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2E4311E3-C67E-8162-0068-C5BE306AA8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11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32890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820E2165-45D6-9439-08A3-EFCDB5F4E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3720D327-6CE6-BB19-68A3-FB39B506A3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FA5BF3E3-6627-B5A7-0F00-40D4BC4B1B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4C0DBB54-09C4-6AFC-4486-63C66F8C18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12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22512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FDA3816A-F2E2-72C8-C454-6D219E320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A96432D2-54F3-E481-5304-2A8015758A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28180A39-E8CC-F10E-7070-379FB2C535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B70E74CE-C156-D8F7-4AC2-4C97FAF10D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13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49721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815E1758-B0C9-F279-0616-D3F790C36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D708D221-2AE3-9C3F-52FE-876B25B4D2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5A18FBF4-0049-A6F6-7266-BA32C17682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C350A296-2422-5C1E-2E09-A941AB7DE4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14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76135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EC358284-3FDA-8905-53F1-205E9CFEB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E1EB51DD-48C6-D0CB-B269-5BBE75D919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1BCCF535-E84B-78FE-2BFD-AD3451CE25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3B581771-D707-9718-6C32-A1C3EEB19B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15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72610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EA27191F-E614-C160-1375-142A49FF1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547788D6-4416-DF48-370A-4796CA1AA9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BE360C5C-9934-D387-5482-69E4C436F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80DE2496-C992-1922-BC8B-959C4C382B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16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79345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1C57EC72-B3C1-8D5C-E0CD-4F239CA4B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D0B635B5-700E-1E53-2389-7B2AEF88B2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F88D3502-CF23-47C7-3C62-2141381161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63F709A8-C741-AAC0-7178-7D87DC2436B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17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89173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B460BAAF-8DB7-663A-85FB-CD718C878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27A838AC-5615-313E-4A11-6220E3502A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76E5E9A5-FA23-7162-707E-A55C22EA76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73D5309E-69ED-AB3C-8F24-5EDDC8CDA4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18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92010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226F0348-A1D1-C60A-AD1C-FECBF4D6D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7FFF01FD-593B-1C96-59B9-F40973116F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0B50A349-447B-D5EA-0E36-3DC8B9A936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5EFCA282-4E8C-977A-4C39-3124544E76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19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24231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EE522BA5-D4FC-F79A-E6F1-92703F2CB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DB9B6E9D-12D5-D7C6-4A10-A281A64C74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3B9AC9B9-BEA4-7D7D-9E96-EC07C0B7BB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86C7BFB8-AF88-43F4-E31D-6123CB8646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99636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D5348E3B-8A2C-138E-ECED-78709F0E4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AF0CCB24-92A0-902C-2D83-006F1CEE03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FC6C3DF3-4243-3B9D-9D38-34BE0F80FE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07DF8F5F-228D-5719-FAEE-1A8BB1C443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21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35348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FC8D84FE-8D19-E6D5-9434-96512F0E5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CB96D3EF-5F87-7BDF-97B2-4B18A345FF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E1C86BDE-5EF5-3A09-07D7-D0EA2443DF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EACCFB71-F880-E2C7-E1EB-C11BF8DDCD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22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04036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CDA5BB46-42C0-3B8D-596E-C172B3E22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DE2F0A4B-4164-0B9E-ED26-1FD1AB22D0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4F080E66-7A44-D505-C37B-FEF21D0969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243681BF-3C8F-3E82-3775-6547E5846C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23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91138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68A81379-F067-8BA9-704F-D75B10363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C4F9E0A9-95FD-AE39-33FE-E03E7DAAD6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C8AC7722-0F64-ABDD-BD2C-1CB263D91B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1C9821D2-20CA-077F-C298-514A6D7562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24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70833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D1C30AEB-6160-CCED-88FF-F65ED441B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89A04FEB-8E01-A244-44A1-178DE62EB4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A4CF5E1C-207C-68C8-80F4-C6A83D8709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6D7E34BE-6F82-2C95-BFE2-DB7643203A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25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93710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383346E3-053C-AF0D-327B-15E332B84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30B514D5-AF2C-9EDC-993E-B724420585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FA511E2E-6368-08DC-0DAE-5C5DC8E4B1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72D5FF56-7811-B80D-1CD0-CA2DFB961E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26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68416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75B623F0-E5CC-02D7-A4B7-699E359AB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8E2C52F9-AFDC-4253-7734-0E80E2AA20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03CD198D-C223-064C-9EB7-35229C589F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21E5CC11-42F4-2C68-80F8-AD6DF65CDF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27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33992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6523AF80-C494-2D4B-D20D-93AB1D56F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D6829E11-09B5-4B36-6CAB-E2D0B7102E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CB3BC9AF-AD3E-2780-4556-AC75298E0E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3B98CFE5-3D83-CD3D-A8F8-7BDE25A635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28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01059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FD02F281-59CB-759F-5B10-93CD11811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6AB8937D-D26E-F14E-DB55-B24520337B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970DCD3D-B9BA-95E1-87FB-D1297D8486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9F38DC5A-EE9C-32AC-A401-BA98825157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29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2089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5CCAE059-59A1-7248-D5C2-5460E8FB0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31C130CA-32D4-C9D9-EF7B-ECD00C8D15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B1DA626C-9E38-A8C2-C375-DB4323E600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4D6D95B2-FB3F-05C0-271C-E265C628F9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80595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F2626FDF-ACF8-D3BC-CE61-8A36E3178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207C8604-E5DC-B4D9-B93B-8F38F2A2A4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7DD41EB0-708B-9440-5DF8-9F1DD6221B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E6BD1490-323F-5CEE-B2FC-4F8FFA6AD0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31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27090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C38B729A-B0A6-28CF-78CE-6DD1BEF7B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E3223CB8-E053-D7DF-BCFA-CEBE8E2621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6992A792-8428-19D5-9318-26834645EE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C5743192-51FE-472A-969B-285801BA5A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32</a:t>
            </a:fld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0856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>
  <p:cSld name="제목만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1" name="Google Shape;31;p1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4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14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4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4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만">
  <p:cSld name="1_제목만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5" descr="텍스트, 실외, 하늘, 도시이(가) 표시된 사진&#10;&#10;자동 생성된 설명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8392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4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4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6" name="Google Shape;76;p1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4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4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>
  <p:cSld name="2_제목 슬라이드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제목 슬라이드">
  <p:cSld name="3_제목 슬라이드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제목 슬라이드">
  <p:cSld name="4_제목 슬라이드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ko-KR" altLang="en-US"/>
          </a:p>
        </p:txBody>
      </p:sp>
      <p:sp>
        <p:nvSpPr>
          <p:cNvPr id="13" name="Google Shape;13;p1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ko-KR" altLang="en-US"/>
          </a:p>
        </p:txBody>
      </p:sp>
      <p:sp>
        <p:nvSpPr>
          <p:cNvPr id="14" name="Google Shape;14;p1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ExtraBold" panose="02000903000000020004" pitchFamily="50" charset="-127"/>
          <a:ea typeface="Pretendard ExtraBold" panose="02000903000000020004" pitchFamily="50" charset="-127"/>
          <a:cs typeface="Pretendard ExtraBold" panose="02000903000000020004" pitchFamily="50" charset="-127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etendard ExtraBold" panose="02000903000000020004" pitchFamily="50" charset="-127"/>
          <a:ea typeface="Pretendard ExtraBold" panose="02000903000000020004" pitchFamily="50" charset="-127"/>
          <a:cs typeface="Pretendard ExtraBold" panose="02000903000000020004" pitchFamily="50" charset="-127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</a:t>
            </a:fld>
            <a:endParaRPr/>
          </a:p>
        </p:txBody>
      </p:sp>
      <p:sp>
        <p:nvSpPr>
          <p:cNvPr id="99" name="Google Shape;99;p1"/>
          <p:cNvSpPr/>
          <p:nvPr/>
        </p:nvSpPr>
        <p:spPr>
          <a:xfrm rot="10800000" flipH="1">
            <a:off x="0" y="5573485"/>
            <a:ext cx="12192000" cy="1284512"/>
          </a:xfrm>
          <a:prstGeom prst="round2SameRect">
            <a:avLst>
              <a:gd name="adj1" fmla="val 2837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415229" y="4334805"/>
            <a:ext cx="7253056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400" b="0" i="0" u="none" strike="noStrike" cap="none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이슈 관리 시스템 개발 Project</a:t>
            </a:r>
            <a:endParaRPr sz="4400" b="0" i="0" u="none" strike="noStrike" cap="none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01" name="Google Shape;101;p1"/>
          <p:cNvCxnSpPr/>
          <p:nvPr/>
        </p:nvCxnSpPr>
        <p:spPr>
          <a:xfrm>
            <a:off x="500993" y="4126974"/>
            <a:ext cx="1371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2" name="Google Shape;102;p1"/>
          <p:cNvSpPr txBox="1"/>
          <p:nvPr/>
        </p:nvSpPr>
        <p:spPr>
          <a:xfrm>
            <a:off x="-223285" y="5096632"/>
            <a:ext cx="545618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2026-1학기 소프트웨어공학 01분반 Team5</a:t>
            </a:r>
            <a:endParaRPr sz="1600" b="0" i="0" u="none" strike="noStrike" cap="none">
              <a:solidFill>
                <a:schemeClr val="dk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9084635" y="239435"/>
            <a:ext cx="310736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0" i="0" u="none" strike="noStrike" cap="none" dirty="0">
                <a:solidFill>
                  <a:schemeClr val="dk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20220364  김태진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0" i="0" u="none" strike="noStrike" cap="none" dirty="0">
                <a:solidFill>
                  <a:schemeClr val="dk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20220807  </a:t>
            </a:r>
            <a:r>
              <a:rPr lang="ko-KR" sz="1600" b="0" i="0" u="none" strike="noStrike" cap="none" dirty="0" err="1">
                <a:solidFill>
                  <a:schemeClr val="dk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이성재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0" i="0" u="none" strike="noStrike" cap="none" dirty="0">
                <a:solidFill>
                  <a:schemeClr val="dk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20220798  정석환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0" i="0" u="none" strike="noStrike" cap="none" dirty="0">
                <a:solidFill>
                  <a:schemeClr val="dk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20226630  정원상</a:t>
            </a:r>
            <a:endParaRPr sz="1600" b="0" i="0" u="none" strike="noStrike" cap="none" dirty="0">
              <a:solidFill>
                <a:schemeClr val="dk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/>
          <p:nvPr/>
        </p:nvSpPr>
        <p:spPr>
          <a:xfrm>
            <a:off x="1" y="0"/>
            <a:ext cx="496388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1084603" y="659629"/>
            <a:ext cx="205184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400">
                <a:solidFill>
                  <a:schemeClr val="l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INDEX</a:t>
            </a:r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10610662" y="798128"/>
            <a:ext cx="103206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800">
              <a:solidFill>
                <a:schemeClr val="accent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5476687" y="1490626"/>
            <a:ext cx="5242616" cy="498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01.  팀원 역할 및 Tech Stack</a:t>
            </a:r>
            <a:endParaRPr sz="2400">
              <a:solidFill>
                <a:schemeClr val="accent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5476687" y="2229622"/>
            <a:ext cx="4762782" cy="498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02.  프로젝트 내용 요약</a:t>
            </a:r>
            <a:endParaRPr sz="2400">
              <a:solidFill>
                <a:schemeClr val="accent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5476686" y="2968618"/>
            <a:ext cx="4762781" cy="498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03. 요구정의 및 분석과정</a:t>
            </a:r>
            <a:endParaRPr sz="2400" dirty="0">
              <a:solidFill>
                <a:schemeClr val="accent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5476686" y="3707614"/>
            <a:ext cx="3145091" cy="498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04. 설계과정</a:t>
            </a:r>
            <a:endParaRPr sz="2400" dirty="0">
              <a:solidFill>
                <a:schemeClr val="accent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5476687" y="4446610"/>
            <a:ext cx="4871424" cy="498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05. 주요 UI 소개 및 시연</a:t>
            </a:r>
            <a:endParaRPr sz="2400" dirty="0">
              <a:solidFill>
                <a:schemeClr val="accent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5476687" y="5185606"/>
            <a:ext cx="4482125" cy="498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06. </a:t>
            </a:r>
            <a:r>
              <a:rPr lang="ko-KR" sz="2400" dirty="0" err="1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Test</a:t>
            </a:r>
            <a:r>
              <a:rPr lang="ko-KR" sz="24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 진행 결과</a:t>
            </a:r>
            <a:endParaRPr sz="2400" dirty="0">
              <a:solidFill>
                <a:schemeClr val="accent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팀원 역할 및 Tech Stack</a:t>
            </a:r>
            <a:endParaRPr sz="2400" b="0" i="0" u="none" strike="noStrike" cap="none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/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/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/>
          <p:cNvSpPr txBox="1"/>
          <p:nvPr/>
        </p:nvSpPr>
        <p:spPr>
          <a:xfrm>
            <a:off x="570850" y="822223"/>
            <a:ext cx="3593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01</a:t>
            </a:r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529275" y="1356782"/>
            <a:ext cx="577081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팀원</a:t>
            </a:r>
            <a:endParaRPr sz="180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529275" y="1537877"/>
            <a:ext cx="4528804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20220364 김태진               프론트엔드</a:t>
            </a:r>
            <a:endParaRPr sz="1800">
              <a:solidFill>
                <a:schemeClr val="dk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  <a:p>
            <a:pPr marL="0" marR="0" lvl="0" indent="0" algn="l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20220807 이성재               PM, Artifact 제작</a:t>
            </a:r>
            <a:endParaRPr sz="1800">
              <a:solidFill>
                <a:schemeClr val="dk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  <a:p>
            <a:pPr marL="0" marR="0" lvl="0" indent="0" algn="l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20220798 정석환               프론트엔드</a:t>
            </a:r>
            <a:endParaRPr sz="1800">
              <a:solidFill>
                <a:schemeClr val="dk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  <a:p>
            <a:pPr marL="0" marR="0" lvl="0" indent="0" algn="l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20226630 정원상              백엔드</a:t>
            </a:r>
            <a:endParaRPr sz="1800">
              <a:solidFill>
                <a:schemeClr val="dk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6290414" y="1369306"/>
            <a:ext cx="2781269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기술 스택</a:t>
            </a:r>
            <a:endParaRPr sz="180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pic>
        <p:nvPicPr>
          <p:cNvPr id="129" name="Google Shape;129;p3" descr="JavaFX 가이드] 1. JavaFX 시작하기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6475" y="5218692"/>
            <a:ext cx="1435121" cy="59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3" descr="Swing image 출력 - 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71878" y="5218692"/>
            <a:ext cx="1145709" cy="68090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 txBox="1"/>
          <p:nvPr/>
        </p:nvSpPr>
        <p:spPr>
          <a:xfrm>
            <a:off x="8957869" y="5237678"/>
            <a:ext cx="180530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JavaFX, Swing</a:t>
            </a:r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(프론트엔드 개발)</a:t>
            </a:r>
            <a:endParaRPr sz="1800">
              <a:solidFill>
                <a:schemeClr val="dk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pic>
        <p:nvPicPr>
          <p:cNvPr id="132" name="Google Shape;132;p3" descr="Github 로고 - 무료 소셜 미디어개 아이콘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4562" y="1801271"/>
            <a:ext cx="627502" cy="627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3" descr="Notion - 나무위키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472" y="2562571"/>
            <a:ext cx="678869" cy="700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" descr="IntelliJ] IntelliJ Git 사용법 (2) - (commit, push, merge, checkout)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5357" y="3492528"/>
            <a:ext cx="656984" cy="656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3" descr="draw.io Diagrams - Windows에서 무료 다운로드 및 설치 | Microsoft Stor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23640" y="4375528"/>
            <a:ext cx="598701" cy="59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"/>
          <p:cNvSpPr txBox="1"/>
          <p:nvPr/>
        </p:nvSpPr>
        <p:spPr>
          <a:xfrm>
            <a:off x="7152568" y="1774010"/>
            <a:ext cx="316304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GitHub</a:t>
            </a:r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(프로젝트 소스코드 관리 및 협업)</a:t>
            </a:r>
            <a:endParaRPr sz="1800">
              <a:solidFill>
                <a:schemeClr val="dk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7152568" y="2586500"/>
            <a:ext cx="191911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Notion</a:t>
            </a:r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(일정 및 파일 관리)</a:t>
            </a:r>
            <a:endParaRPr sz="1800">
              <a:solidFill>
                <a:schemeClr val="dk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7161194" y="3501154"/>
            <a:ext cx="353654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IntelliJ IDEA</a:t>
            </a:r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(Java 기반 프로젝트 개발 및 디버깅)</a:t>
            </a:r>
            <a:endParaRPr sz="1800">
              <a:solidFill>
                <a:schemeClr val="dk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7232878" y="4359331"/>
            <a:ext cx="181652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draw.io</a:t>
            </a:r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(다이어그램 작성)</a:t>
            </a:r>
            <a:endParaRPr sz="1800">
              <a:solidFill>
                <a:schemeClr val="dk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pic>
        <p:nvPicPr>
          <p:cNvPr id="140" name="Google Shape;140;p3" descr="SQLite in iOS — Complete Guide for Developers | by Shweta Chaturvedi |  Medium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36283" y="5859281"/>
            <a:ext cx="1554248" cy="103579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"/>
          <p:cNvSpPr txBox="1"/>
          <p:nvPr/>
        </p:nvSpPr>
        <p:spPr>
          <a:xfrm>
            <a:off x="7731596" y="6072119"/>
            <a:ext cx="97013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SQLite</a:t>
            </a:r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(백엔드)</a:t>
            </a:r>
            <a:endParaRPr sz="1800">
              <a:solidFill>
                <a:schemeClr val="dk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4404E58D-692E-992B-A631-5B21F686E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05797A97-D0CB-14CA-9AA5-B4C005D87015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프로젝트 내용 요약</a:t>
            </a:r>
            <a:endParaRPr sz="2400" b="0" i="0" u="none" strike="noStrike" cap="none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3F55373D-4140-54B0-6871-746B396DA0F7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26ED93BB-6AB1-0738-39BC-3699E40E1135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CE5A0D51-E997-38F6-BE33-C75ED4F50811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b="0" i="0" u="none" strike="noStrike" cap="none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2</a:t>
            </a:r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B45EDEC4-EAB8-28A7-5111-56CB428387AC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" name="Google Shape;127;p3">
            <a:extLst>
              <a:ext uri="{FF2B5EF4-FFF2-40B4-BE49-F238E27FC236}">
                <a16:creationId xmlns:a16="http://schemas.microsoft.com/office/drawing/2014/main" id="{DF42278F-CCBA-353D-14D5-661A3D47432F}"/>
              </a:ext>
            </a:extLst>
          </p:cNvPr>
          <p:cNvSpPr txBox="1"/>
          <p:nvPr/>
        </p:nvSpPr>
        <p:spPr>
          <a:xfrm>
            <a:off x="447794" y="1999603"/>
            <a:ext cx="11520888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latinLnBrk="1"/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계정 추가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(</a:t>
            </a:r>
            <a:r>
              <a:rPr lang="ko-KR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계정 종류에는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admin, PL, dev, tester</a:t>
            </a:r>
            <a:r>
              <a:rPr lang="ko-KR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 있음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ko-KR"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atinLnBrk="1"/>
            <a:r>
              <a:rPr lang="en-US" altLang="ko-KR" sz="20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→ </a:t>
            </a:r>
            <a:r>
              <a:rPr lang="en-US" altLang="ko-KR" sz="2000" b="1" dirty="0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Admin</a:t>
            </a:r>
            <a:r>
              <a:rPr lang="ko-KR" altLang="ko-KR" sz="2000" b="1" dirty="0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 직접 프로젝트를 생성하고</a:t>
            </a:r>
            <a:r>
              <a:rPr lang="en-US" altLang="ko-KR" sz="2000" b="1" dirty="0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ko-KR" sz="2000" b="1" dirty="0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각 유저의</a:t>
            </a:r>
            <a:r>
              <a:rPr lang="en-US" altLang="ko-KR" sz="2000" b="1" dirty="0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role</a:t>
            </a:r>
            <a:r>
              <a:rPr lang="ko-KR" altLang="ko-KR" sz="2000" b="1" dirty="0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과 아이디</a:t>
            </a:r>
            <a:r>
              <a:rPr lang="en-US" altLang="ko-KR" sz="2000" b="1" dirty="0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&amp;</a:t>
            </a:r>
            <a:r>
              <a:rPr lang="ko-KR" altLang="ko-KR" sz="2000" b="1" dirty="0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비밀번호를 설정한다고 가정</a:t>
            </a:r>
            <a:r>
              <a:rPr lang="en-US" altLang="ko-KR" sz="20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	</a:t>
            </a:r>
          </a:p>
          <a:p>
            <a:pPr latinLnBrk="1"/>
            <a:endParaRPr lang="ko-KR" altLang="ko-KR"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 latinLnBrk="1"/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이슈 등록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(</a:t>
            </a:r>
            <a:r>
              <a:rPr lang="ko-KR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꼭 </a:t>
            </a:r>
            <a:r>
              <a:rPr lang="ko-KR" altLang="ko-KR" sz="2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채워야하는</a:t>
            </a:r>
            <a:r>
              <a:rPr lang="ko-KR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필드는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Title, Description. reporter </a:t>
            </a:r>
            <a:r>
              <a:rPr lang="ko-KR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필드는 이슈를 등록한 계정으로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reported date</a:t>
            </a:r>
            <a:r>
              <a:rPr lang="ko-KR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는 등록한 날짜와 시간으로 자동으로 </a:t>
            </a:r>
            <a:r>
              <a:rPr lang="ko-KR" altLang="ko-KR" sz="2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채워짐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ko-KR"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atinLnBrk="1"/>
            <a:r>
              <a:rPr lang="en-US" altLang="ko-KR" sz="20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→ </a:t>
            </a:r>
            <a:r>
              <a:rPr lang="en-US" altLang="ko-KR" sz="2000" b="1" dirty="0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Title, Description</a:t>
            </a:r>
            <a:r>
              <a:rPr lang="ko-KR" altLang="ko-KR" sz="2000" b="1" dirty="0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는 필수 값</a:t>
            </a:r>
            <a:r>
              <a:rPr lang="en-US" altLang="ko-KR" sz="2000" b="1" dirty="0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Comment</a:t>
            </a:r>
            <a:r>
              <a:rPr lang="ko-KR" altLang="ko-KR" sz="2000" b="1" dirty="0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는 선택사항</a:t>
            </a:r>
            <a:endParaRPr lang="en-US" altLang="ko-KR" sz="2000" b="1" dirty="0">
              <a:highlight>
                <a:srgbClr val="FFFF00"/>
              </a:highligh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atinLnBrk="1"/>
            <a:endParaRPr lang="ko-KR" altLang="ko-KR"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 latinLnBrk="1"/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ko-KR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이슈 </a:t>
            </a:r>
            <a:r>
              <a:rPr lang="ko-KR" altLang="ko-KR" sz="2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브라우즈</a:t>
            </a:r>
            <a:r>
              <a:rPr lang="ko-KR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및 검색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(</a:t>
            </a:r>
            <a:r>
              <a:rPr lang="ko-KR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예를 들어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assignee </a:t>
            </a:r>
            <a:r>
              <a:rPr lang="ko-KR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값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이슈 상태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reporter </a:t>
            </a:r>
            <a:r>
              <a:rPr lang="ko-KR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값 등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ko-KR"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atinLnBrk="1"/>
            <a:r>
              <a:rPr lang="en-US" altLang="ko-KR" sz="20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→ </a:t>
            </a:r>
            <a:r>
              <a:rPr lang="ko-KR" altLang="ko-KR" sz="2000" b="1" dirty="0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이슈 상태</a:t>
            </a:r>
            <a:r>
              <a:rPr lang="en-US" altLang="ko-KR" sz="2000" b="1" dirty="0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ko-KR" sz="2000" b="1" dirty="0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우선순위</a:t>
            </a:r>
            <a:r>
              <a:rPr lang="en-US" altLang="ko-KR" sz="2000" b="1" dirty="0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assignee, reporter </a:t>
            </a:r>
            <a:r>
              <a:rPr lang="ko-KR" altLang="ko-KR" sz="2000" b="1" dirty="0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값으로 검색 가능</a:t>
            </a:r>
            <a:endParaRPr lang="en-US" altLang="ko-KR" sz="2000" b="1" dirty="0">
              <a:highlight>
                <a:srgbClr val="FFFF00"/>
              </a:highligh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atinLnBrk="1"/>
            <a:endParaRPr lang="ko-KR" altLang="ko-KR"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 latinLnBrk="1"/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4. </a:t>
            </a:r>
            <a:r>
              <a:rPr lang="ko-KR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이슈 코멘트 추가</a:t>
            </a: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36E1A49F-B715-31C2-9271-6D6B7DE3BE8E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주요 기능</a:t>
            </a:r>
            <a:endParaRPr sz="180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7282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80D3957E-98C0-EB27-01DD-6AAD3C2E9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C4390FD0-5223-C440-3722-76FF9D36DE25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프로젝트 내용 요약</a:t>
            </a:r>
            <a:endParaRPr sz="2400" b="0" i="0" u="none" strike="noStrike" cap="none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06AEBFE4-958F-0DFB-568B-E6EBDCD55372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E1F0F80F-2EEA-521E-8CA8-667BA5EBA56E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CE68CBBF-07B2-C4A2-A38F-319DFEF46A1B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b="0" i="0" u="none" strike="noStrike" cap="none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2</a:t>
            </a:r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6D57BA65-11DD-31D0-36AA-3775629CF284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" name="Google Shape;127;p3">
            <a:extLst>
              <a:ext uri="{FF2B5EF4-FFF2-40B4-BE49-F238E27FC236}">
                <a16:creationId xmlns:a16="http://schemas.microsoft.com/office/drawing/2014/main" id="{C20B5EA7-5E02-619D-880E-A8D8149FA492}"/>
              </a:ext>
            </a:extLst>
          </p:cNvPr>
          <p:cNvSpPr txBox="1"/>
          <p:nvPr/>
        </p:nvSpPr>
        <p:spPr>
          <a:xfrm>
            <a:off x="529275" y="1855934"/>
            <a:ext cx="11520888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latinLnBrk="1"/>
            <a:r>
              <a:rPr lang="en-US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5. </a:t>
            </a:r>
            <a:r>
              <a:rPr lang="ko-KR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이슈 상세 정보 확인</a:t>
            </a:r>
            <a:r>
              <a:rPr lang="en-US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(</a:t>
            </a:r>
            <a:r>
              <a:rPr lang="ko-KR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이슈의 각 필드와 코멘트</a:t>
            </a:r>
            <a:r>
              <a:rPr lang="en-US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history </a:t>
            </a:r>
            <a:r>
              <a:rPr lang="ko-KR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확인 가능</a:t>
            </a:r>
            <a:r>
              <a:rPr lang="en-US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 latinLnBrk="1"/>
            <a:endParaRPr lang="ko-KR" altLang="ko-KR"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 latinLnBrk="1"/>
            <a:r>
              <a:rPr lang="en-US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6. </a:t>
            </a:r>
            <a:r>
              <a:rPr lang="ko-KR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이슈 배정을 포함한 이슈 상태 변경</a:t>
            </a:r>
          </a:p>
          <a:p>
            <a:pPr latinLnBrk="1"/>
            <a:r>
              <a:rPr lang="en-US" altLang="ko-KR" sz="2000" b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→ </a:t>
            </a:r>
            <a:r>
              <a:rPr lang="ko-KR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각</a:t>
            </a:r>
            <a:r>
              <a:rPr lang="en-US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Role</a:t>
            </a:r>
            <a:r>
              <a:rPr lang="ko-KR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별로 권한이 있는 변경만 가능하다고 가정</a:t>
            </a:r>
            <a:endParaRPr lang="ko-KR" altLang="ko-KR" sz="2000">
              <a:highlight>
                <a:srgbClr val="FFFF00"/>
              </a:highligh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atinLnBrk="1"/>
            <a:r>
              <a:rPr lang="en-US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ex. tester</a:t>
            </a:r>
            <a:r>
              <a:rPr lang="ko-KR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는 상태가</a:t>
            </a:r>
            <a:r>
              <a:rPr lang="en-US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‘New’</a:t>
            </a:r>
            <a:r>
              <a:rPr lang="ko-KR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 이슈를</a:t>
            </a:r>
            <a:r>
              <a:rPr lang="en-US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dev</a:t>
            </a:r>
            <a:r>
              <a:rPr lang="ko-KR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에게 배정할 수 없음</a:t>
            </a:r>
            <a:r>
              <a:rPr lang="en-US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ko-KR" sz="2000">
              <a:highlight>
                <a:srgbClr val="FFFF00"/>
              </a:highligh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atinLnBrk="1"/>
            <a:r>
              <a:rPr lang="en-US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dev</a:t>
            </a:r>
            <a:r>
              <a:rPr lang="ko-KR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는 상태가</a:t>
            </a:r>
            <a:r>
              <a:rPr lang="en-US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‘Closed’</a:t>
            </a:r>
            <a:r>
              <a:rPr lang="ko-KR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 이슈를</a:t>
            </a:r>
            <a:r>
              <a:rPr lang="en-US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reopen</a:t>
            </a:r>
            <a:r>
              <a:rPr lang="ko-KR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할 수 없음</a:t>
            </a:r>
            <a:endParaRPr lang="en-US" altLang="ko-KR" sz="2000" b="1">
              <a:highlight>
                <a:srgbClr val="FFFF00"/>
              </a:highligh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atinLnBrk="1"/>
            <a:endParaRPr lang="ko-KR" altLang="ko-KR"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 latinLnBrk="1"/>
            <a:r>
              <a:rPr lang="en-US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7. </a:t>
            </a:r>
            <a:r>
              <a:rPr lang="ko-KR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이슈 통계 분석</a:t>
            </a:r>
            <a:r>
              <a:rPr lang="en-US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</a:t>
            </a:r>
            <a:r>
              <a:rPr lang="en-US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월 별 이슈 발생 횟수 및 트랜드 등 표시</a:t>
            </a:r>
            <a:r>
              <a:rPr lang="en-US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 latinLnBrk="1"/>
            <a:endParaRPr lang="ko-KR" altLang="ko-KR"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 latinLnBrk="1"/>
            <a:r>
              <a:rPr lang="en-US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8. </a:t>
            </a:r>
            <a:r>
              <a:rPr lang="ko-KR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해결된</a:t>
            </a:r>
            <a:r>
              <a:rPr lang="en-US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(closed/resolved) </a:t>
            </a:r>
            <a:r>
              <a:rPr lang="ko-KR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이슈 이력을 활용한</a:t>
            </a:r>
            <a:r>
              <a:rPr lang="en-US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assignee </a:t>
            </a:r>
            <a:r>
              <a:rPr lang="ko-KR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자동 추천 기능</a:t>
            </a:r>
          </a:p>
          <a:p>
            <a:pPr latinLnBrk="1"/>
            <a:r>
              <a:rPr lang="en-US" altLang="ko-KR" sz="2000" b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→ </a:t>
            </a:r>
            <a:r>
              <a:rPr lang="ko-KR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해결 이슈의</a:t>
            </a:r>
            <a:r>
              <a:rPr lang="en-US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title + description</a:t>
            </a:r>
            <a:r>
              <a:rPr lang="ko-KR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을</a:t>
            </a:r>
            <a:r>
              <a:rPr lang="en-US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Lucene(</a:t>
            </a:r>
            <a:r>
              <a:rPr lang="ko-KR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루씬</a:t>
            </a:r>
            <a:r>
              <a:rPr lang="en-US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 </a:t>
            </a:r>
            <a:r>
              <a:rPr lang="ko-KR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인덱스에 저장하고</a:t>
            </a:r>
            <a:endParaRPr lang="en-US" altLang="ko-KR" sz="2000" b="1">
              <a:highlight>
                <a:srgbClr val="FFFF00"/>
              </a:highligh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atinLnBrk="1"/>
            <a:r>
              <a:rPr lang="en-US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 </a:t>
            </a:r>
            <a:r>
              <a:rPr lang="ko-KR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새 이슈와 내용이 유사한 과거 이슈를</a:t>
            </a:r>
            <a:r>
              <a:rPr lang="en-US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  <a:r>
              <a:rPr lang="ko-KR" altLang="ko-KR" sz="2000" b="1"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검색</a:t>
            </a:r>
            <a:endParaRPr lang="ko-KR" altLang="ko-KR" sz="2000">
              <a:highlight>
                <a:srgbClr val="FFFF00"/>
              </a:highligh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A2A00E7D-C47F-D7AC-61EE-F29466C0D21E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주요 기능</a:t>
            </a:r>
            <a:endParaRPr sz="180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3692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F3C03C6D-BADF-A84D-77B3-DAADC307F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AE1D5DD4-6BB9-03F4-CE46-F6D6096D4D37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ko-KR" sz="24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요구정의 및 분석과정</a:t>
            </a:r>
            <a:endParaRPr sz="2400" b="0" i="0" u="none" strike="noStrike" cap="none">
              <a:solidFill>
                <a:schemeClr val="tx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55C45539-1311-F5F7-6D9D-0A9460C326C1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3E90CCAA-EF6D-37F3-5A0D-EE0A473D048B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25C00FF0-DA2D-2297-AA2B-54B12CF5446B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b="0" i="0" u="none" strike="noStrike" cap="none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3</a:t>
            </a:r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A6321105-A313-9C2E-312D-9B71E996D5FF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00240067-3613-56E6-6C9B-BB297486A385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주요 산출물</a:t>
            </a:r>
            <a:endParaRPr sz="180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B4BA301F-23DC-C4E0-2C3D-570E24089332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rcRect/>
          <a:stretch/>
        </p:blipFill>
        <p:spPr>
          <a:xfrm>
            <a:off x="510136" y="2316392"/>
            <a:ext cx="2744693" cy="298130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ContrastingRightFacing"/>
            <a:lightRig rig="threePt" dir="t"/>
          </a:scene3d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FAE86DEE-A4AE-F338-5AA7-E2F6A0F4FDE8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rcRect/>
          <a:stretch/>
        </p:blipFill>
        <p:spPr>
          <a:xfrm>
            <a:off x="2516284" y="2354582"/>
            <a:ext cx="2738501" cy="2981305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ContrastingRightFacing"/>
            <a:lightRig rig="threePt" dir="t"/>
          </a:scene3d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5CBBD23-A401-5F94-7FD0-49EAD46F4BA2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rcRect/>
          <a:stretch/>
        </p:blipFill>
        <p:spPr>
          <a:xfrm>
            <a:off x="4497519" y="2429984"/>
            <a:ext cx="2637154" cy="298130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ContrastingRightFacing"/>
            <a:lightRig rig="threePt" dir="t"/>
          </a:scene3d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5C256FA-3E74-FF11-68D4-C76D8C5B9E7C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6"/>
          <a:srcRect t="13904" b="13904"/>
          <a:stretch/>
        </p:blipFill>
        <p:spPr>
          <a:xfrm>
            <a:off x="6112984" y="2412871"/>
            <a:ext cx="3811133" cy="298130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ContrastingRightFacing"/>
            <a:lightRig rig="threePt" dir="t"/>
          </a:scene3d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D96DE583-0CD1-FC60-A738-ED2C88069B62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rcRect/>
          <a:stretch/>
        </p:blipFill>
        <p:spPr>
          <a:xfrm>
            <a:off x="8598363" y="2412871"/>
            <a:ext cx="2777277" cy="298130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ContrastingRightFacing"/>
            <a:lightRig rig="threePt" dir="t"/>
          </a:scene3d>
        </p:spPr>
      </p:pic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92B441FE-59D6-7098-DC59-654E93476BA9}"/>
              </a:ext>
            </a:extLst>
          </p:cNvPr>
          <p:cNvSpPr/>
          <p:nvPr/>
        </p:nvSpPr>
        <p:spPr>
          <a:xfrm>
            <a:off x="833001" y="5882694"/>
            <a:ext cx="10855020" cy="239753"/>
          </a:xfrm>
          <a:prstGeom prst="rightArrow">
            <a:avLst/>
          </a:prstGeom>
          <a:gradFill>
            <a:gsLst>
              <a:gs pos="31000">
                <a:srgbClr val="A6CCE8"/>
              </a:gs>
              <a:gs pos="0">
                <a:schemeClr val="accent1">
                  <a:lumMod val="20000"/>
                  <a:lumOff val="80000"/>
                </a:schemeClr>
              </a:gs>
              <a:gs pos="95000">
                <a:srgbClr val="58A1D5"/>
              </a:gs>
              <a:gs pos="100000">
                <a:srgbClr val="0070C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33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CC714622-EC2F-3D18-6706-C877EF61303D}"/>
              </a:ext>
            </a:extLst>
          </p:cNvPr>
          <p:cNvSpPr/>
          <p:nvPr/>
        </p:nvSpPr>
        <p:spPr>
          <a:xfrm>
            <a:off x="1517485" y="5843346"/>
            <a:ext cx="269942" cy="3016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33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F659BBF2-6B62-75FB-4B75-DE32FDB97923}"/>
              </a:ext>
            </a:extLst>
          </p:cNvPr>
          <p:cNvSpPr/>
          <p:nvPr/>
        </p:nvSpPr>
        <p:spPr>
          <a:xfrm>
            <a:off x="3717846" y="5851737"/>
            <a:ext cx="269942" cy="3016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33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956CD41A-F930-2377-DB2E-77EA09BB8DFE}"/>
              </a:ext>
            </a:extLst>
          </p:cNvPr>
          <p:cNvSpPr/>
          <p:nvPr/>
        </p:nvSpPr>
        <p:spPr>
          <a:xfrm>
            <a:off x="5587192" y="5870636"/>
            <a:ext cx="269942" cy="3016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33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CFB6F12A-7F57-98D9-4347-BE9737EA93C6}"/>
              </a:ext>
            </a:extLst>
          </p:cNvPr>
          <p:cNvSpPr/>
          <p:nvPr/>
        </p:nvSpPr>
        <p:spPr>
          <a:xfrm>
            <a:off x="7782400" y="5843345"/>
            <a:ext cx="269942" cy="3016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33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4920200-13C2-C036-48A0-EC441282615B}"/>
              </a:ext>
            </a:extLst>
          </p:cNvPr>
          <p:cNvSpPr/>
          <p:nvPr/>
        </p:nvSpPr>
        <p:spPr>
          <a:xfrm>
            <a:off x="10017667" y="5843346"/>
            <a:ext cx="269942" cy="3016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33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DAC7182A-2FC6-EB67-D54A-D6DF1AC8769C}"/>
              </a:ext>
            </a:extLst>
          </p:cNvPr>
          <p:cNvGrpSpPr/>
          <p:nvPr/>
        </p:nvGrpSpPr>
        <p:grpSpPr>
          <a:xfrm>
            <a:off x="1060451" y="6241649"/>
            <a:ext cx="1304645" cy="419527"/>
            <a:chOff x="5155262" y="8754681"/>
            <a:chExt cx="2743200" cy="1262872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B5551128-8226-0B15-94DB-4F7E93B9A1A2}"/>
                </a:ext>
              </a:extLst>
            </p:cNvPr>
            <p:cNvSpPr/>
            <p:nvPr/>
          </p:nvSpPr>
          <p:spPr>
            <a:xfrm>
              <a:off x="5155262" y="8754681"/>
              <a:ext cx="2743200" cy="12628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33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5CC00F2-451F-C008-5FB2-0D5D822F9F00}"/>
                </a:ext>
              </a:extLst>
            </p:cNvPr>
            <p:cNvSpPr txBox="1"/>
            <p:nvPr/>
          </p:nvSpPr>
          <p:spPr>
            <a:xfrm>
              <a:off x="5155262" y="8922874"/>
              <a:ext cx="2743200" cy="926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>
                  <a:latin typeface="Pretendard ExtraBold" panose="020B0600000101010101" charset="-127"/>
                  <a:ea typeface="Pretendard ExtraBold" panose="020B0600000101010101" charset="-127"/>
                </a:rPr>
                <a:t>Vision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92FE9DA6-0C5B-807A-FFCF-9D250F19C8DC}"/>
              </a:ext>
            </a:extLst>
          </p:cNvPr>
          <p:cNvGrpSpPr/>
          <p:nvPr/>
        </p:nvGrpSpPr>
        <p:grpSpPr>
          <a:xfrm>
            <a:off x="7366227" y="6275339"/>
            <a:ext cx="1304645" cy="419527"/>
            <a:chOff x="5155262" y="8754681"/>
            <a:chExt cx="2743200" cy="1262872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867316A9-8036-1686-9021-AA6C2046E64D}"/>
                </a:ext>
              </a:extLst>
            </p:cNvPr>
            <p:cNvSpPr/>
            <p:nvPr/>
          </p:nvSpPr>
          <p:spPr>
            <a:xfrm>
              <a:off x="5155262" y="8754681"/>
              <a:ext cx="2743200" cy="12628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33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46B4799-20F2-D353-4508-0F29DBE79DCD}"/>
                </a:ext>
              </a:extLst>
            </p:cNvPr>
            <p:cNvSpPr txBox="1"/>
            <p:nvPr/>
          </p:nvSpPr>
          <p:spPr>
            <a:xfrm>
              <a:off x="5155262" y="8942462"/>
              <a:ext cx="2743200" cy="833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Domain Model</a:t>
              </a:r>
              <a:endParaRPr lang="ko-KR" altLang="en-US" sz="12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7B100D99-581D-D0EE-5CFC-BFA86BD3C335}"/>
              </a:ext>
            </a:extLst>
          </p:cNvPr>
          <p:cNvGrpSpPr/>
          <p:nvPr/>
        </p:nvGrpSpPr>
        <p:grpSpPr>
          <a:xfrm>
            <a:off x="5204811" y="6251595"/>
            <a:ext cx="1304645" cy="419527"/>
            <a:chOff x="5155262" y="8754681"/>
            <a:chExt cx="2743200" cy="1262872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EF331AC2-F477-AD89-3A1A-124B12A0B815}"/>
                </a:ext>
              </a:extLst>
            </p:cNvPr>
            <p:cNvSpPr/>
            <p:nvPr/>
          </p:nvSpPr>
          <p:spPr>
            <a:xfrm>
              <a:off x="5155262" y="8754681"/>
              <a:ext cx="2743200" cy="12628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33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730D2D9-4798-623C-52E1-0A226477EBCA}"/>
                </a:ext>
              </a:extLst>
            </p:cNvPr>
            <p:cNvSpPr txBox="1"/>
            <p:nvPr/>
          </p:nvSpPr>
          <p:spPr>
            <a:xfrm>
              <a:off x="5155262" y="9040186"/>
              <a:ext cx="2743200" cy="7875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Use-Case </a:t>
              </a:r>
              <a:r>
                <a:rPr lang="ko-KR" altLang="ko-KR" sz="1050" b="1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명세</a:t>
              </a:r>
              <a:endParaRPr lang="ko-KR" altLang="en-US" sz="7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516227C5-DC87-1C30-290C-1C372D221625}"/>
              </a:ext>
            </a:extLst>
          </p:cNvPr>
          <p:cNvGrpSpPr/>
          <p:nvPr/>
        </p:nvGrpSpPr>
        <p:grpSpPr>
          <a:xfrm>
            <a:off x="9498023" y="6271790"/>
            <a:ext cx="1304645" cy="436276"/>
            <a:chOff x="5155262" y="8754681"/>
            <a:chExt cx="2743200" cy="1313291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197F1731-B921-F2C7-9842-1AA5972FF43F}"/>
                </a:ext>
              </a:extLst>
            </p:cNvPr>
            <p:cNvSpPr/>
            <p:nvPr/>
          </p:nvSpPr>
          <p:spPr>
            <a:xfrm>
              <a:off x="5155262" y="8754681"/>
              <a:ext cx="2743200" cy="12628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33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E8B986B-220A-277A-DD6C-406F44221A28}"/>
                </a:ext>
              </a:extLst>
            </p:cNvPr>
            <p:cNvSpPr txBox="1"/>
            <p:nvPr/>
          </p:nvSpPr>
          <p:spPr>
            <a:xfrm>
              <a:off x="5155262" y="8817228"/>
              <a:ext cx="2743200" cy="1250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SSD, Operation Contract</a:t>
              </a:r>
              <a:endParaRPr lang="ko-KR" altLang="en-US" sz="105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5A71ADFE-A18D-7024-2112-A8640E21C097}"/>
              </a:ext>
            </a:extLst>
          </p:cNvPr>
          <p:cNvGrpSpPr/>
          <p:nvPr/>
        </p:nvGrpSpPr>
        <p:grpSpPr>
          <a:xfrm>
            <a:off x="3192874" y="6252650"/>
            <a:ext cx="1312265" cy="419527"/>
            <a:chOff x="5155262" y="8754681"/>
            <a:chExt cx="2759222" cy="1262872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6D7F6D3F-1620-6EE2-6AFC-2E0F3EEF7BF7}"/>
                </a:ext>
              </a:extLst>
            </p:cNvPr>
            <p:cNvSpPr/>
            <p:nvPr/>
          </p:nvSpPr>
          <p:spPr>
            <a:xfrm>
              <a:off x="5155262" y="8754681"/>
              <a:ext cx="2743200" cy="12628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33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F9933D6-BECF-A9C8-129E-4F0E6ABF6192}"/>
                </a:ext>
              </a:extLst>
            </p:cNvPr>
            <p:cNvSpPr txBox="1"/>
            <p:nvPr/>
          </p:nvSpPr>
          <p:spPr>
            <a:xfrm>
              <a:off x="5171284" y="8759241"/>
              <a:ext cx="2743200" cy="1250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Use-Case</a:t>
              </a:r>
            </a:p>
            <a:p>
              <a:pPr algn="ctr"/>
              <a:r>
                <a:rPr lang="en-US" altLang="ko-KR" sz="1050" b="1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Diagram</a:t>
              </a:r>
              <a:endParaRPr lang="ko-KR" altLang="en-US" sz="70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</p:grpSp>
      <p:sp>
        <p:nvSpPr>
          <p:cNvPr id="4" name="Google Shape;127;p3">
            <a:extLst>
              <a:ext uri="{FF2B5EF4-FFF2-40B4-BE49-F238E27FC236}">
                <a16:creationId xmlns:a16="http://schemas.microsoft.com/office/drawing/2014/main" id="{7984A45D-6A72-4CF6-6CB5-4A2B19D9144C}"/>
              </a:ext>
            </a:extLst>
          </p:cNvPr>
          <p:cNvSpPr txBox="1"/>
          <p:nvPr/>
        </p:nvSpPr>
        <p:spPr>
          <a:xfrm>
            <a:off x="3649005" y="1568068"/>
            <a:ext cx="4893989" cy="4000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latinLnBrk="1"/>
            <a:r>
              <a:rPr lang="en-US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Elaboration</a:t>
            </a:r>
            <a:r>
              <a:rPr lang="ko-KR" alt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을 반복하며 개선 및 세부사항 추가</a:t>
            </a:r>
            <a:endParaRPr lang="ko-KR" altLang="ko-KR"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7167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44F88511-552C-3AEF-06A9-6B82814DD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D0E81ACE-2A2B-7DFA-5E04-5603D7EDC374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ko-KR" sz="24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요구정의 및 분석과정</a:t>
            </a:r>
            <a:endParaRPr sz="2400" b="0" i="0" u="none" strike="noStrike" cap="none">
              <a:solidFill>
                <a:schemeClr val="tx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85FF8AFC-CF9C-5A52-94C3-4A68B4668E9C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5A782BF3-8869-585B-B369-E242E78658CF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7F441571-59D0-F596-FC6F-C9AEE4E34FBB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b="0" i="0" u="none" strike="noStrike" cap="none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3</a:t>
            </a:r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1D1C6F0D-3257-50DC-4E5A-5FD3FBD7DC96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1A515E2C-4A6B-0DFB-09EB-1D0DB9B98251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Use-Case Ver1.0</a:t>
            </a:r>
            <a:endParaRPr sz="180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33DF637-9D9C-8E44-CCA5-5C9BF4191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680" y="1356782"/>
            <a:ext cx="6022306" cy="4518554"/>
          </a:xfrm>
          <a:prstGeom prst="rect">
            <a:avLst/>
          </a:prstGeom>
        </p:spPr>
      </p:pic>
      <p:sp>
        <p:nvSpPr>
          <p:cNvPr id="6" name="Google Shape;127;p3">
            <a:extLst>
              <a:ext uri="{FF2B5EF4-FFF2-40B4-BE49-F238E27FC236}">
                <a16:creationId xmlns:a16="http://schemas.microsoft.com/office/drawing/2014/main" id="{528881A1-3468-5538-9B27-0A41555C0B4F}"/>
              </a:ext>
            </a:extLst>
          </p:cNvPr>
          <p:cNvSpPr txBox="1"/>
          <p:nvPr/>
        </p:nvSpPr>
        <p:spPr>
          <a:xfrm>
            <a:off x="2854456" y="5977497"/>
            <a:ext cx="6300754" cy="7078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latinLnBrk="1"/>
            <a:r>
              <a:rPr lang="ko-KR" alt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문제점</a:t>
            </a:r>
            <a:r>
              <a:rPr lang="en-US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서로 다른 역할</a:t>
            </a:r>
            <a:r>
              <a:rPr lang="en-US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(PL·Dev·Tester)</a:t>
            </a:r>
            <a:r>
              <a:rPr lang="ko-KR" alt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이슈 처리 과정을</a:t>
            </a:r>
            <a:endParaRPr lang="en-US" altLang="ko-KR"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 latinLnBrk="1"/>
            <a:r>
              <a:rPr lang="en-US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UC6 </a:t>
            </a:r>
            <a:r>
              <a:rPr lang="ko-KR" alt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하나로 통합해 </a:t>
            </a:r>
            <a:r>
              <a:rPr lang="en-US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User-Goal</a:t>
            </a:r>
            <a:r>
              <a:rPr lang="ko-KR" alt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 명확히 드러나지 않음</a:t>
            </a:r>
            <a:endParaRPr lang="ko-KR" altLang="ko-KR"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2E03535-110F-2F67-62D9-C39B55580EED}"/>
              </a:ext>
            </a:extLst>
          </p:cNvPr>
          <p:cNvSpPr/>
          <p:nvPr/>
        </p:nvSpPr>
        <p:spPr>
          <a:xfrm>
            <a:off x="4843605" y="3311305"/>
            <a:ext cx="1855960" cy="8261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71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428446F9-DD6B-2B49-23D5-33C1CEECA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378E3291-36D6-AE47-A82B-E55DE512FC32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ko-KR" sz="24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요구정의 및 분석과정</a:t>
            </a:r>
            <a:endParaRPr sz="2400" b="0" i="0" u="none" strike="noStrike" cap="none">
              <a:solidFill>
                <a:schemeClr val="tx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24FEDBBE-613F-E807-509E-3AFDBEFB52B2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CE51AB1C-B2A0-5B2F-532D-4453466C866D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6D8DA791-5CEF-ACA9-F2D0-E784390062B5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b="0" i="0" u="none" strike="noStrike" cap="none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3</a:t>
            </a:r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5B28BD5A-5ACF-F909-2890-A3E7A3AD68BB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910F2E6B-76C5-7CAE-C7FF-25A7F047DF7B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Use-Case Ver1.0</a:t>
            </a:r>
            <a:endParaRPr sz="180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7E07F28-1000-7879-9BC4-F18C0C715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717" y="1677423"/>
            <a:ext cx="6072565" cy="445892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10457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FEA22A93-BD49-23B8-FD63-DCE4ED993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A7BCF638-BDE0-1095-A87E-2DAC738E3294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ko-KR" sz="24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요구정의 및 분석과정</a:t>
            </a:r>
            <a:endParaRPr sz="2400" b="0" i="0" u="none" strike="noStrike" cap="none">
              <a:solidFill>
                <a:schemeClr val="tx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B6619444-9E26-0168-7F66-D11BBE9AB473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B13DC8CF-70F8-8DF4-453D-A9AD9F510EEC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44D41A12-0344-A186-FD05-4F29E11D9C80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b="0" i="0" u="none" strike="noStrike" cap="none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3</a:t>
            </a:r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E1108D15-B9CB-408C-D64F-789BA935B0DD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88F9A08B-2779-B2F7-4BF0-C0DCE8743AC4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Use-Case Ver2.1</a:t>
            </a:r>
            <a:endParaRPr sz="180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6" name="Google Shape;127;p3">
            <a:extLst>
              <a:ext uri="{FF2B5EF4-FFF2-40B4-BE49-F238E27FC236}">
                <a16:creationId xmlns:a16="http://schemas.microsoft.com/office/drawing/2014/main" id="{7ECA2508-4708-92CE-D5B4-9F0DCFF91C69}"/>
              </a:ext>
            </a:extLst>
          </p:cNvPr>
          <p:cNvSpPr txBox="1"/>
          <p:nvPr/>
        </p:nvSpPr>
        <p:spPr>
          <a:xfrm>
            <a:off x="2854456" y="5977497"/>
            <a:ext cx="6300754" cy="7078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latinLnBrk="1"/>
            <a:r>
              <a:rPr lang="ko-KR" alt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문제점</a:t>
            </a:r>
            <a:r>
              <a:rPr lang="en-US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서로 다른 역할</a:t>
            </a:r>
            <a:r>
              <a:rPr lang="en-US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(PL·Dev·Tester)</a:t>
            </a:r>
            <a:r>
              <a:rPr lang="ko-KR" alt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이슈 처리 과정을</a:t>
            </a:r>
            <a:endParaRPr lang="en-US" altLang="ko-KR"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 latinLnBrk="1"/>
            <a:r>
              <a:rPr lang="en-US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UC6 </a:t>
            </a:r>
            <a:r>
              <a:rPr lang="ko-KR" alt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하나로 통합해 </a:t>
            </a:r>
            <a:r>
              <a:rPr lang="en-US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User-Goal</a:t>
            </a:r>
            <a:r>
              <a:rPr lang="ko-KR" alt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 명확히 드러나지 않음</a:t>
            </a:r>
            <a:endParaRPr lang="ko-KR" altLang="ko-KR"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E0B1D3C-B406-5755-8785-20B92433F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937" y="1419848"/>
            <a:ext cx="6030273" cy="442782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0760B04-4481-90B3-C747-AF99499CC94A}"/>
              </a:ext>
            </a:extLst>
          </p:cNvPr>
          <p:cNvSpPr/>
          <p:nvPr/>
        </p:nvSpPr>
        <p:spPr>
          <a:xfrm>
            <a:off x="3947312" y="1828798"/>
            <a:ext cx="1167896" cy="516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65F2EEE-9637-085D-7119-24C6B9A932B4}"/>
              </a:ext>
            </a:extLst>
          </p:cNvPr>
          <p:cNvSpPr/>
          <p:nvPr/>
        </p:nvSpPr>
        <p:spPr>
          <a:xfrm>
            <a:off x="7304638" y="1908770"/>
            <a:ext cx="1167896" cy="516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51C5D23-F52F-03D8-728F-43697BE53F8D}"/>
              </a:ext>
            </a:extLst>
          </p:cNvPr>
          <p:cNvSpPr/>
          <p:nvPr/>
        </p:nvSpPr>
        <p:spPr>
          <a:xfrm>
            <a:off x="3996005" y="3294969"/>
            <a:ext cx="1167896" cy="516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3ABE7C1-31E9-419D-7490-8C7762CF344B}"/>
              </a:ext>
            </a:extLst>
          </p:cNvPr>
          <p:cNvSpPr/>
          <p:nvPr/>
        </p:nvSpPr>
        <p:spPr>
          <a:xfrm>
            <a:off x="3996005" y="2508561"/>
            <a:ext cx="1167896" cy="516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7486F60-7AC0-49E5-1C9B-829CBDD0EDAE}"/>
              </a:ext>
            </a:extLst>
          </p:cNvPr>
          <p:cNvSpPr/>
          <p:nvPr/>
        </p:nvSpPr>
        <p:spPr>
          <a:xfrm>
            <a:off x="7458548" y="3091565"/>
            <a:ext cx="1167896" cy="516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94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C79A9402-AF7D-F4B8-E705-731FE480E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5F26AD2D-01DB-4CE4-F9B7-AF98A2C5FE02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ko-KR" sz="24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요구정의 및 분석과정</a:t>
            </a:r>
            <a:endParaRPr sz="2400" b="0" i="0" u="none" strike="noStrike" cap="none">
              <a:solidFill>
                <a:schemeClr val="tx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6954383C-1F9B-6618-8BC7-54B835C5FEF8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EC3F4400-EEE8-7108-0D84-39678E2CA168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3B0DF700-8DE2-97B3-4519-27D181D74385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b="0" i="0" u="none" strike="noStrike" cap="none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3</a:t>
            </a:r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7D9975DA-90A9-EAA2-D4D3-0B543BCF32F0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579E78B9-7B7B-CC57-EE33-F7456448BE97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Use-Case Ver2.1</a:t>
            </a:r>
            <a:endParaRPr sz="180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6" name="Google Shape;127;p3">
            <a:extLst>
              <a:ext uri="{FF2B5EF4-FFF2-40B4-BE49-F238E27FC236}">
                <a16:creationId xmlns:a16="http://schemas.microsoft.com/office/drawing/2014/main" id="{6D027F25-A121-A51B-EF79-6D2CAC4224A7}"/>
              </a:ext>
            </a:extLst>
          </p:cNvPr>
          <p:cNvSpPr txBox="1"/>
          <p:nvPr/>
        </p:nvSpPr>
        <p:spPr>
          <a:xfrm>
            <a:off x="4168805" y="6012898"/>
            <a:ext cx="4279675" cy="4000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latinLnBrk="1"/>
            <a:r>
              <a:rPr lang="en-US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UC7 </a:t>
            </a:r>
            <a:r>
              <a:rPr lang="ko-KR" alt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이슈 브라우즈</a:t>
            </a:r>
            <a:r>
              <a:rPr lang="en-US" altLang="ko-KR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Include? Extend?</a:t>
            </a:r>
            <a:endParaRPr lang="ko-KR" altLang="ko-KR"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D9E1BE8-F3A4-7EA2-0221-CC38356D8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937" y="1419848"/>
            <a:ext cx="6030273" cy="442782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6172AA41-6E8C-E90B-8352-1EAC7B47FA68}"/>
              </a:ext>
            </a:extLst>
          </p:cNvPr>
          <p:cNvSpPr/>
          <p:nvPr/>
        </p:nvSpPr>
        <p:spPr>
          <a:xfrm>
            <a:off x="5769430" y="3620196"/>
            <a:ext cx="1535208" cy="516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229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53ACB1CB-4671-DAC1-3FB0-2402492DD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14762BB1-A1B8-9317-081E-F48BB5407B8C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ko-KR" sz="24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요구정의 및 분석과정</a:t>
            </a:r>
            <a:endParaRPr sz="2400" b="0" i="0" u="none" strike="noStrike" cap="none">
              <a:solidFill>
                <a:schemeClr val="tx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157348B7-A895-18A4-6CE9-97084673DBEF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F07FCD7C-79AD-5D50-5602-EC20CF60AABC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196DA949-7D8A-8E57-C1C6-A0CBA512505A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b="0" i="0" u="none" strike="noStrike" cap="none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3</a:t>
            </a:r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3688E553-61DB-5324-6985-66EC512C1551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FEACAB1F-ECEE-0485-650A-13B05B14C7EC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Use-Case Ver3.0</a:t>
            </a:r>
            <a:endParaRPr sz="180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28ACA53-7E11-F299-111A-42EDA7B6F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219" y="1518382"/>
            <a:ext cx="7068741" cy="510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256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74F78146-97C4-6DD0-5C12-2AE603EFF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49A80A48-42EE-82F4-AA19-8D7323468B74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ko-KR" sz="24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요구정의 및 분석과정</a:t>
            </a:r>
            <a:endParaRPr sz="2400" b="0" i="0" u="none" strike="noStrike" cap="none">
              <a:solidFill>
                <a:schemeClr val="tx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EC112698-D713-C407-EDBD-62824D9DB2AA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AD9A564B-D7C7-AD9C-C0B9-08E3F94958CC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BA8E52DB-21D3-BB0A-7028-9D23BA4E1003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b="0" i="0" u="none" strike="noStrike" cap="none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3</a:t>
            </a:r>
            <a:endParaRPr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6E5D8B73-A86B-56DE-7ABB-73EDCD9AE320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DCAA470B-F018-E381-F791-D719C02DF154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Domain Model</a:t>
            </a:r>
            <a:endParaRPr sz="180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2B7C651-A637-5AF8-30F6-86966CFB3C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786" y="162142"/>
            <a:ext cx="6127228" cy="653371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4BAF7A2-400A-F23A-33E7-2FFAF6D0058D}"/>
              </a:ext>
            </a:extLst>
          </p:cNvPr>
          <p:cNvSpPr/>
          <p:nvPr/>
        </p:nvSpPr>
        <p:spPr>
          <a:xfrm>
            <a:off x="6109220" y="933531"/>
            <a:ext cx="2020791" cy="714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07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7EE401E5-43F3-8D47-2FD4-B87D8D85F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31C72DDD-F634-5A0D-0D55-F7E3A0F25468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설계 과정</a:t>
            </a:r>
            <a:endParaRPr sz="2400" b="0" i="0" u="none" strike="noStrike" cap="none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ECC6C61A-F16E-1779-7091-6A13335C9653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E043665D-D65C-69F1-2B09-7E300FFBD70C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AC9B6C1F-5ED4-FD89-71CA-470B5CA174E7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4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D7F36855-E595-D3D2-4A0D-8BDD3421FED2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B570F750-F567-BA25-E22E-5A77BE762D29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전체 구조</a:t>
            </a:r>
            <a:endParaRPr sz="1800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A861EBA-E2EA-DA3F-23F4-944D5997F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245" y="1317686"/>
            <a:ext cx="4763510" cy="484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466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916C7191-A794-5145-E0E9-DAD0E8F87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FB439904-9893-FAAA-63F8-AAC431CF0AD6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설계 과정</a:t>
            </a:r>
            <a:endParaRPr sz="2400" b="0" i="0" u="none" strike="noStrike" cap="none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8BD1B559-25DD-0E3E-1841-A60669FACB94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6971B762-3808-491C-8B76-9B704FCD4686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38014DE7-10E6-39C2-D378-7E52483AE661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4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0E6505FF-BB03-D3EA-8D7E-08D0A6401386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4B998539-6A20-A72B-4680-DF50235AD054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Core </a:t>
            </a:r>
            <a:r>
              <a:rPr lang="ko-KR" altLang="en-US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모듈</a:t>
            </a:r>
            <a:endParaRPr sz="1800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BA5F76A-F884-2780-44FE-106FAFA0F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717" y="2225027"/>
            <a:ext cx="5894565" cy="240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126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3EC70E32-79E3-66CB-3E8D-C2B28156C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A18749DB-3EA6-A568-9019-F5E014B1CEEC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설계 과정</a:t>
            </a:r>
            <a:endParaRPr sz="2400" b="0" i="0" u="none" strike="noStrike" cap="none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647874F4-DC97-A841-EC13-9C56C679D46D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BCC76A7B-0148-F956-2ECF-854DA025DD06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6386A2CA-69CB-0367-84DD-F337A79C5722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4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4D77CDEA-242C-91FA-BBD1-314F658C6052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A03161F6-5885-85F1-5503-9CAC268ACF5F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Core </a:t>
            </a:r>
            <a:r>
              <a:rPr lang="ko-KR" altLang="en-US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모듈</a:t>
            </a:r>
            <a:endParaRPr sz="1800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4E40DE5-6575-CB20-0464-8F41442AE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233" y="2339758"/>
            <a:ext cx="4813534" cy="2178483"/>
          </a:xfrm>
          <a:prstGeom prst="rect">
            <a:avLst/>
          </a:prstGeom>
        </p:spPr>
      </p:pic>
      <p:sp>
        <p:nvSpPr>
          <p:cNvPr id="7" name="Google Shape;127;p3">
            <a:extLst>
              <a:ext uri="{FF2B5EF4-FFF2-40B4-BE49-F238E27FC236}">
                <a16:creationId xmlns:a16="http://schemas.microsoft.com/office/drawing/2014/main" id="{8F32897E-9F75-1B82-5545-3F570FA9F36A}"/>
              </a:ext>
            </a:extLst>
          </p:cNvPr>
          <p:cNvSpPr txBox="1"/>
          <p:nvPr/>
        </p:nvSpPr>
        <p:spPr>
          <a:xfrm>
            <a:off x="3317428" y="5301183"/>
            <a:ext cx="5557144" cy="4000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latinLnBrk="1"/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SOLID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DIP 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적용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확장성 있고 테스트가 용이한 설계</a:t>
            </a:r>
            <a:endParaRPr lang="ko-KR" altLang="ko-KR"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89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987F8734-326F-B140-B4A8-ADB928F33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C6EBC96D-79EA-D543-77CF-D7DBFD1F1C9B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설계 과정</a:t>
            </a:r>
            <a:endParaRPr sz="2400" b="0" i="0" u="none" strike="noStrike" cap="none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7C6A0A62-5A36-6B0D-A8D7-D247F663B538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77C900E4-E485-CFCD-228F-728857595F40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8357AE20-B973-3979-E018-9DDC9DDE0B81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4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B7FB7249-4C70-EC33-5835-F9F18EFB6CAD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D2330F80-8F21-0F61-C974-64D0096215B6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Swing </a:t>
            </a:r>
            <a:r>
              <a:rPr lang="ko-KR" altLang="en-US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모듈</a:t>
            </a:r>
            <a:endParaRPr sz="1800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F55BC65-EF3D-4724-5B9E-01BE5B14B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487" y="1753773"/>
            <a:ext cx="515302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071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B38E7E59-695B-C511-A97E-49F45AF97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74230C36-44CA-8F0C-388D-F9769BEB046A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설계 과정</a:t>
            </a:r>
            <a:endParaRPr sz="2400" b="0" i="0" u="none" strike="noStrike" cap="none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5E42A41E-CA1A-0613-73DE-03317933BB5E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44A307DF-13A2-4481-D944-B701A1DD3253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877AE67D-99DA-F65C-B250-CDD744EFC94C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4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24AE7EEE-07FD-9D67-D546-A7C3D269EFE6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495A77D0-5179-46F1-66F6-E0C8667E9544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Swing </a:t>
            </a:r>
            <a:r>
              <a:rPr lang="ko-KR" altLang="en-US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모듈</a:t>
            </a:r>
            <a:endParaRPr sz="1800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6" name="Google Shape;127;p3">
            <a:extLst>
              <a:ext uri="{FF2B5EF4-FFF2-40B4-BE49-F238E27FC236}">
                <a16:creationId xmlns:a16="http://schemas.microsoft.com/office/drawing/2014/main" id="{07ED4B06-3713-935C-059F-49AD356F4277}"/>
              </a:ext>
            </a:extLst>
          </p:cNvPr>
          <p:cNvSpPr txBox="1"/>
          <p:nvPr/>
        </p:nvSpPr>
        <p:spPr>
          <a:xfrm>
            <a:off x="3330495" y="5236081"/>
            <a:ext cx="5531009" cy="7345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latinLnBrk="1"/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MVC 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패턴과 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DIP 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적용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Model, View, Controller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분리하고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Coupling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을 낮추는 설계</a:t>
            </a:r>
            <a:endParaRPr lang="en-US" altLang="ko-KR"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29EFB63-6866-B4D4-B6E9-CB8D40D76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081" y="2416955"/>
            <a:ext cx="7159837" cy="202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270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A52ECD20-389C-5286-628F-86BF719BA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47D26B01-C436-149B-1411-A88EC6F8EEB1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설계 과정</a:t>
            </a:r>
            <a:endParaRPr sz="2400" b="0" i="0" u="none" strike="noStrike" cap="none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DB9DBDB4-3951-7F5F-3928-BBF2239FA066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C4F25208-22A2-CF75-EE9A-17B31B38C19B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5DEEBAD2-CD0B-E940-223B-A309F101C3C7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4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36ECBB37-6754-D95F-7214-4142FF149E26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984721E4-C59A-6083-7C84-573FB0866AB4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Swing </a:t>
            </a:r>
            <a:r>
              <a:rPr lang="ko-KR" altLang="en-US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모듈</a:t>
            </a:r>
            <a:endParaRPr sz="1800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6" name="Google Shape;127;p3">
            <a:extLst>
              <a:ext uri="{FF2B5EF4-FFF2-40B4-BE49-F238E27FC236}">
                <a16:creationId xmlns:a16="http://schemas.microsoft.com/office/drawing/2014/main" id="{B27BF59D-8D6B-99A9-24C2-1CFDA78F5A6B}"/>
              </a:ext>
            </a:extLst>
          </p:cNvPr>
          <p:cNvSpPr txBox="1"/>
          <p:nvPr/>
        </p:nvSpPr>
        <p:spPr>
          <a:xfrm>
            <a:off x="3738811" y="5203309"/>
            <a:ext cx="4714378" cy="4000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latinLnBrk="1"/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SoC: 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화면 별 기능 별 책임 분리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응집도 향상</a:t>
            </a:r>
            <a:endParaRPr lang="en-US" altLang="ko-KR"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5D00751-A758-25A2-EA42-619E99D98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5485" y="2163742"/>
            <a:ext cx="5061030" cy="253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289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0A6AC6CC-C510-63A3-668B-41107EC97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5B282F4C-99AB-BF95-24FB-C07F412AE447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설계 과정</a:t>
            </a:r>
            <a:endParaRPr sz="2400" b="0" i="0" u="none" strike="noStrike" cap="none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71FCFF96-BDB8-09BB-0704-F928B0C7C3FF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1236CA74-18FF-EF40-8914-975B8F50904F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60C32290-17F5-2679-12CF-1164879A1E55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4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03FE94E2-8F89-ECB2-C070-73F6BDA3E8B5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7A444EC6-8ABA-FCA1-FB89-2892F3671E94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dirty="0" err="1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JavaFx</a:t>
            </a:r>
            <a:r>
              <a:rPr lang="en-US" altLang="ko-KR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모듈</a:t>
            </a:r>
            <a:endParaRPr sz="1800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" name="Google Shape;127;p3">
            <a:extLst>
              <a:ext uri="{FF2B5EF4-FFF2-40B4-BE49-F238E27FC236}">
                <a16:creationId xmlns:a16="http://schemas.microsoft.com/office/drawing/2014/main" id="{A56D612A-1F0A-BBF9-1EAB-70327C903BF6}"/>
              </a:ext>
            </a:extLst>
          </p:cNvPr>
          <p:cNvSpPr txBox="1"/>
          <p:nvPr/>
        </p:nvSpPr>
        <p:spPr>
          <a:xfrm>
            <a:off x="4274520" y="5398789"/>
            <a:ext cx="3642958" cy="4000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latinLnBrk="1"/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Swing 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모듈과 유사한 구조로 설계</a:t>
            </a:r>
            <a:endParaRPr lang="en-US" altLang="ko-KR"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7DE134B-53D3-31F2-194E-8468D2E88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005" y="1753773"/>
            <a:ext cx="791527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553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B1F4E586-A4F6-B00B-7D5A-507C7F283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EE679B63-FB1D-EF61-5927-05ED7D22560C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주요 </a:t>
            </a:r>
            <a:r>
              <a:rPr lang="en-US" altLang="ko-KR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UI </a:t>
            </a: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소개 및 시연</a:t>
            </a:r>
            <a:endParaRPr sz="2400" b="0" i="0" u="none" strike="noStrike" cap="none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B8198AD4-B815-01F9-0C19-BD50230885F9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C9659600-18ED-2B0D-EA6C-CE558B4BF5CD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08CB1E44-D3E0-777C-4A1D-19D6F46B1B40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49839AF9-6582-1C9B-88CC-574BB7B35C59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63327FA2-617B-ABA3-61E5-E6826F6E12DE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로그인 및 프로젝트 입장</a:t>
            </a:r>
            <a:endParaRPr sz="1800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9BC9C0A-2451-8E7D-0968-A17FF322D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870" y="1760859"/>
            <a:ext cx="3452669" cy="226823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6C4BE5F-5ADB-D883-3152-B4A545DDB5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870" y="4169846"/>
            <a:ext cx="3452401" cy="235850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017135A-BBAD-3E2C-6855-B305E75091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825" t="-440" r="11499" b="31262"/>
          <a:stretch>
            <a:fillRect/>
          </a:stretch>
        </p:blipFill>
        <p:spPr>
          <a:xfrm>
            <a:off x="6581730" y="1753773"/>
            <a:ext cx="3579266" cy="226822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19F947F-808B-D7C1-01C3-754E1B3724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30" y="4169847"/>
            <a:ext cx="3592286" cy="235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179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B9CAA68D-D97B-17E7-DFBC-32E04B18B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80B8E848-1B6C-5965-4D84-EB1A4DF94CEB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주요 </a:t>
            </a:r>
            <a:r>
              <a:rPr lang="en-US" altLang="ko-KR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UI </a:t>
            </a: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소개 및 시연</a:t>
            </a:r>
            <a:endParaRPr sz="2400" b="0" i="0" u="none" strike="noStrike" cap="none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74C547CD-BDEA-FBA3-61CC-D0AE115DCD96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DD35A563-33E7-44F9-83D1-5E7B7C0EFD44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8FC1680F-A1D3-BCA5-6F64-658FE688BAA2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2DEF0E53-50B0-34B7-C295-635D9E3E4FE2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22BF3148-27C2-ACE3-E6B5-28658FE7A841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계정 추가 및 </a:t>
            </a:r>
            <a:r>
              <a:rPr lang="en-US" altLang="ko-KR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Role </a:t>
            </a:r>
            <a:r>
              <a:rPr lang="ko-KR" altLang="en-US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할당</a:t>
            </a:r>
            <a:endParaRPr sz="1800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6A23532-4755-1877-0A73-6E6D9B8FE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572" y="1799955"/>
            <a:ext cx="3599058" cy="23482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6B608ED-E23E-52EA-A6FC-A64A8735A5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2572" y="4241623"/>
            <a:ext cx="3844810" cy="25191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22B9C74-F273-5077-21E4-E2E0A0FC21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643" y="1799955"/>
            <a:ext cx="4639136" cy="303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860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BE96925D-F4B5-BA92-E162-772DECAAD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83F16AF6-083D-3293-1C15-ECB6A3014A20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주요 </a:t>
            </a:r>
            <a:r>
              <a:rPr lang="en-US" altLang="ko-KR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UI </a:t>
            </a: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소개 및 시연</a:t>
            </a:r>
            <a:endParaRPr sz="2400" b="0" i="0" u="none" strike="noStrike" cap="none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35A49146-405E-EA5C-CDB1-50A528D23804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8796FD92-AE60-0358-2941-76DD29BFEA06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D902C3AE-6CA0-434C-E7EB-878BA0520CD0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B156F845-3EEA-B94D-590C-4196F154E35D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B8B6F3DB-C2FB-F6F7-23B0-44EBB5B1562E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이슈 등록</a:t>
            </a:r>
            <a:endParaRPr sz="1800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F800887-5DA8-0945-B785-265F15996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070" y="2066794"/>
            <a:ext cx="4635759" cy="303743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BF6AFF-BC7C-71A4-4094-A2CBEFC6F6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882" y="2066793"/>
            <a:ext cx="4624804" cy="303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8792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20A88EA4-455A-5BDF-62A7-B14D7BAA9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03189D11-43BC-FA2A-794A-625F36FAFE96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주요 </a:t>
            </a:r>
            <a:r>
              <a:rPr lang="en-US" altLang="ko-KR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UI </a:t>
            </a: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소개 및 시연</a:t>
            </a:r>
            <a:endParaRPr sz="2400" b="0" i="0" u="none" strike="noStrike" cap="none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9F5DCD67-7CFF-B270-38F4-E2D957828283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BA3E6D50-8AC3-D045-430F-0989407408F3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2A152C70-4292-EDAC-0F8E-A051C0B3B953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CD5F4F8E-A8FF-4A21-2998-43DFD6F17C40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87F20309-5FC6-88EF-C892-D7439A9B6C9B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이슈 </a:t>
            </a:r>
            <a:r>
              <a:rPr lang="ko-KR" altLang="en-US" sz="1800" dirty="0" err="1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브라우즈</a:t>
            </a:r>
            <a:r>
              <a:rPr lang="ko-KR" altLang="en-US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및 검색</a:t>
            </a:r>
            <a:endParaRPr sz="1800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E4DE9C8-9788-16BE-58CE-23D2E0641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52044"/>
            <a:ext cx="4738048" cy="310183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EF5758E-10F2-9E4B-6E20-DBAE264BF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750" y="2052044"/>
            <a:ext cx="4756558" cy="310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5871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9171FCC2-5DED-7D28-071C-B1F795D81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C95EE39B-4CEA-0902-245A-08C49333FDE9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주요 </a:t>
            </a:r>
            <a:r>
              <a:rPr lang="en-US" altLang="ko-KR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UI </a:t>
            </a: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소개 및 시연</a:t>
            </a:r>
            <a:endParaRPr sz="2400" b="0" i="0" u="none" strike="noStrike" cap="none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38A819D5-1215-4D36-1FA7-80CECDAD0034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91D711AE-91C1-67FC-5A32-27E2C93EA5FB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144527E3-A8E7-91B0-EA37-0FE970E9F867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8B3AEEEB-0DE7-8616-AC3B-3A57B4239CD0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E13AB5EB-1779-E20C-9EDE-9A33508E23E3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이슈 코멘트 추가</a:t>
            </a:r>
            <a:endParaRPr sz="1800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DA03DC5-9C83-2746-F9E3-D21B764AD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750" y="1863022"/>
            <a:ext cx="4586429" cy="346636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001D0A3-C69A-2CA5-E30F-EBA5FD7925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163" y="1863021"/>
            <a:ext cx="5297551" cy="346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747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9ABA6F52-4E8F-A50A-F0CB-2F9418A9C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3CAE6FCA-926B-68B2-775F-5AC88DF4132C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주요 </a:t>
            </a:r>
            <a:r>
              <a:rPr lang="en-US" altLang="ko-KR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UI </a:t>
            </a: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소개 및 시연</a:t>
            </a:r>
            <a:endParaRPr sz="2400" b="0" i="0" u="none" strike="noStrike" cap="none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A5CE0899-5BC5-336D-9BE9-A12ABA8A6C3B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5D9C0F64-79C4-E83C-EEE9-1103B35B19F4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53D00E9B-5D9A-1219-E089-A5817585703D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DCE9F6DE-0CAE-885D-C1E3-30948558BCA9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E6D4FF34-B842-331F-48D2-1DE9A1CE3262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이슈 상세 정보 확인</a:t>
            </a:r>
            <a:endParaRPr sz="1800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4A91B2E-908A-DB73-7555-60CC31CAA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51411"/>
            <a:ext cx="5267800" cy="344980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02A5287-2453-848F-5614-40D2BC26C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751" y="2051410"/>
            <a:ext cx="4537344" cy="344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9819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1B711EC1-1768-633E-BA89-A677592C4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8BB2EC57-B6F2-3E34-BF68-895625421613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주요 </a:t>
            </a:r>
            <a:r>
              <a:rPr lang="en-US" altLang="ko-KR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UI </a:t>
            </a: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소개 및 시연</a:t>
            </a:r>
            <a:endParaRPr sz="2400" b="0" i="0" u="none" strike="noStrike" cap="none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FB7A8C74-421F-3F4F-32A3-D737EE53E9E2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C0E6BFFD-2944-343E-DD2B-359DDE989047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50B92B15-6AA7-CB84-D03D-00902ABAE52A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4F0B78F5-4C9B-5869-CAD2-52940CCC85CF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13FE0173-C0C4-A905-59B1-2A6EA0CB5F6D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이슈 배정을 포함한 이슈 상태 변경</a:t>
            </a:r>
            <a:endParaRPr sz="1800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6CAE9FB-7DA2-C66F-E543-B888CD17B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751" y="1919000"/>
            <a:ext cx="4404014" cy="333969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9899AA9-AB4F-A135-6991-5746639756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12970"/>
            <a:ext cx="5073057" cy="333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9574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DDF0C7E9-EB39-26FE-C1B5-C8F99E046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BE82446D-C188-4A56-B03B-396731D54FD0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주요 </a:t>
            </a:r>
            <a:r>
              <a:rPr lang="en-US" altLang="ko-KR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UI </a:t>
            </a: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소개 및 시연</a:t>
            </a:r>
            <a:endParaRPr sz="2400" b="0" i="0" u="none" strike="noStrike" cap="none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7DA3135E-EAA8-6944-6464-A1FA59B9FB69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B9EBFF2F-A200-495C-3B0C-D59161AD470C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CEE919B4-E2BC-A871-F55D-1A63CDB75965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8A576026-FE95-521E-DFE5-5DD6CE137B6A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85CE264B-9BAC-91EA-359E-5AF17A00EB3B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이슈 통계 분석</a:t>
            </a:r>
            <a:endParaRPr sz="1800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AD5DFBA-5A2C-95D4-1ED1-A606AD3CA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65644"/>
            <a:ext cx="4660086" cy="304046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6C41335-152E-27C0-A328-B1FFE0181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750" y="1965643"/>
            <a:ext cx="4632584" cy="304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236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84AAA45D-999C-600A-3B2C-19C1B5AC7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C32E4C9D-8D9B-66FD-0296-D434DA96D876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주요 </a:t>
            </a:r>
            <a:r>
              <a:rPr lang="en-US" altLang="ko-KR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UI </a:t>
            </a: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소개 및 시연</a:t>
            </a:r>
            <a:endParaRPr sz="2400" b="0" i="0" u="none" strike="noStrike" cap="none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F37D3AB0-8396-F55D-DF89-F928293B6544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19C48B49-B274-90FF-209C-4AA0FFE423E0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203AE075-A04C-BE39-36DC-2DA28624CBE4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7466CA39-285C-B08C-F125-E549FA74999B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89AEB202-9B18-ADFE-DBE3-8FE52128ADF9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Assignee</a:t>
            </a:r>
            <a:r>
              <a:rPr lang="ko-KR" altLang="en-US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 자동 추천 기능</a:t>
            </a:r>
            <a:endParaRPr sz="1800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B3FB366-B165-E34F-E50A-14231828B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750" y="1919000"/>
            <a:ext cx="4921250" cy="322013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BAF1293-E70E-E7A8-EDF9-5563DF45B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643" y="1919001"/>
            <a:ext cx="4915423" cy="322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4121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B06B87F7-AA1B-4D64-083B-461C95E38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273EBA06-8D50-A5D0-9FF7-2267A676AEAF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테스트 진행 결과</a:t>
            </a:r>
            <a:endParaRPr sz="2400" b="0" i="0" u="none" strike="noStrike" cap="none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CB2706B0-A666-BD00-0BFF-95F7724D2A08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D7FCC4D0-4285-147A-5868-550C771AF67C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061C446E-3628-87A5-D4F1-8E9B65AA8597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6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C64D875F-595F-F3E0-8ED3-F27B8B5A87EC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4C7D6BFA-D9C4-DD36-4712-68F28DAFD6E7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테스트가 용이한 설계</a:t>
            </a:r>
            <a:endParaRPr sz="1800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163E448-925E-4769-1918-C3887B210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233" y="2339758"/>
            <a:ext cx="4813534" cy="2178483"/>
          </a:xfrm>
          <a:prstGeom prst="rect">
            <a:avLst/>
          </a:prstGeom>
        </p:spPr>
      </p:pic>
      <p:sp>
        <p:nvSpPr>
          <p:cNvPr id="8" name="Google Shape;127;p3">
            <a:extLst>
              <a:ext uri="{FF2B5EF4-FFF2-40B4-BE49-F238E27FC236}">
                <a16:creationId xmlns:a16="http://schemas.microsoft.com/office/drawing/2014/main" id="{9D7C2745-D7AD-8612-F675-20D628B528E6}"/>
              </a:ext>
            </a:extLst>
          </p:cNvPr>
          <p:cNvSpPr txBox="1"/>
          <p:nvPr/>
        </p:nvSpPr>
        <p:spPr>
          <a:xfrm>
            <a:off x="3317428" y="4904191"/>
            <a:ext cx="5557144" cy="4000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latinLnBrk="1"/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Loose Coupling 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덕분에 쉽게 테스트 작성할 수 있음</a:t>
            </a:r>
            <a:endParaRPr lang="en-US" altLang="ko-KR"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58263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CB351920-B970-6C34-35C7-C4FC4AE4A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C1F4B7FD-FB47-7B31-8303-4697DC2A1CAA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테스트 진행 결과</a:t>
            </a:r>
            <a:endParaRPr sz="2400" b="0" i="0" u="none" strike="noStrike" cap="none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768457F4-2686-C123-253B-A704434E93B5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2F4F761E-276F-779F-DE63-4F7218F8A226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611DBDA8-073E-6C19-91E0-E4A653DF9C5B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6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03F92706-3F1C-A8E2-95D2-B066E1E0790E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A1934C18-BDCB-C68F-B5DD-86D33EA5AB13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예시</a:t>
            </a:r>
            <a:r>
              <a:rPr lang="en-US" altLang="ko-KR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1800" dirty="0" err="1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UserImplTest</a:t>
            </a:r>
            <a:r>
              <a:rPr lang="en-US" altLang="ko-KR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endParaRPr sz="1800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F328F5C-3E65-D696-C423-70610119A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575" y="1419848"/>
            <a:ext cx="5687068" cy="4331826"/>
          </a:xfrm>
          <a:prstGeom prst="rect">
            <a:avLst/>
          </a:prstGeom>
        </p:spPr>
      </p:pic>
      <p:sp>
        <p:nvSpPr>
          <p:cNvPr id="5" name="Google Shape;127;p3">
            <a:extLst>
              <a:ext uri="{FF2B5EF4-FFF2-40B4-BE49-F238E27FC236}">
                <a16:creationId xmlns:a16="http://schemas.microsoft.com/office/drawing/2014/main" id="{72916369-D82F-AEB9-551C-6E3B07ACA0C2}"/>
              </a:ext>
            </a:extLst>
          </p:cNvPr>
          <p:cNvSpPr txBox="1"/>
          <p:nvPr/>
        </p:nvSpPr>
        <p:spPr>
          <a:xfrm>
            <a:off x="3064575" y="5916901"/>
            <a:ext cx="5557144" cy="7078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latinLnBrk="1"/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Mock 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라이브러리로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인터페이스의 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Mock Object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생성하여 테스트함</a:t>
            </a:r>
            <a:endParaRPr lang="en-US" altLang="ko-KR"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56506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4C51FE5C-02D4-33A6-9C69-E0E938320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90FCFD35-D7C4-04DB-3AA6-05C1788BAC46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테스트 진행 결과</a:t>
            </a:r>
            <a:endParaRPr sz="2400" b="0" i="0" u="none" strike="noStrike" cap="none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84C261C7-CABA-22D3-6970-7705C061122D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F7F8031E-89EB-A961-F367-8FA3EB5C0E70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E04917DA-1D53-5D39-A58A-E748429BD5A0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6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04EE6328-EAC8-8118-37E3-8B1E6567AF1B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DDBD88C1-F858-43A8-DA1E-E3C754E69427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예시</a:t>
            </a:r>
            <a:r>
              <a:rPr lang="en-US" altLang="ko-KR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1800" dirty="0" err="1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UserImplTest</a:t>
            </a:r>
            <a:r>
              <a:rPr lang="en-US" altLang="ko-KR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endParaRPr sz="1800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5" name="Google Shape;127;p3">
            <a:extLst>
              <a:ext uri="{FF2B5EF4-FFF2-40B4-BE49-F238E27FC236}">
                <a16:creationId xmlns:a16="http://schemas.microsoft.com/office/drawing/2014/main" id="{5CB8AA04-B348-219B-25CB-84E7DE0B6B5C}"/>
              </a:ext>
            </a:extLst>
          </p:cNvPr>
          <p:cNvSpPr txBox="1"/>
          <p:nvPr/>
        </p:nvSpPr>
        <p:spPr>
          <a:xfrm>
            <a:off x="3064575" y="5916901"/>
            <a:ext cx="5557144" cy="4000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latinLnBrk="1"/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권한 확인 등 </a:t>
            </a:r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Use Case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 맞게 동작하는지 검증</a:t>
            </a:r>
            <a:endParaRPr lang="en-US" altLang="ko-KR"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F7B690B-CB11-C657-6B4D-B63D10CC6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367" y="1461162"/>
            <a:ext cx="5865559" cy="424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9377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0226308F-E709-DB6D-ED17-814EB73D6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583BF01F-29A8-FD4D-85E5-E68AFD40B416}"/>
              </a:ext>
            </a:extLst>
          </p:cNvPr>
          <p:cNvSpPr txBox="1"/>
          <p:nvPr/>
        </p:nvSpPr>
        <p:spPr>
          <a:xfrm>
            <a:off x="1174750" y="822223"/>
            <a:ext cx="56968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>
                <a:solidFill>
                  <a:srgbClr val="0C0C0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테스트 진행 결과</a:t>
            </a:r>
            <a:endParaRPr sz="2400" b="0" i="0" u="none" strike="noStrike" cap="none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cxnSp>
        <p:nvCxnSpPr>
          <p:cNvPr id="122" name="Google Shape;122;p3">
            <a:extLst>
              <a:ext uri="{FF2B5EF4-FFF2-40B4-BE49-F238E27FC236}">
                <a16:creationId xmlns:a16="http://schemas.microsoft.com/office/drawing/2014/main" id="{A1CFB851-2F77-B1A8-BACD-780244722151}"/>
              </a:ext>
            </a:extLst>
          </p:cNvPr>
          <p:cNvCxnSpPr/>
          <p:nvPr/>
        </p:nvCxnSpPr>
        <p:spPr>
          <a:xfrm>
            <a:off x="976148" y="1254620"/>
            <a:ext cx="1066499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3">
            <a:extLst>
              <a:ext uri="{FF2B5EF4-FFF2-40B4-BE49-F238E27FC236}">
                <a16:creationId xmlns:a16="http://schemas.microsoft.com/office/drawing/2014/main" id="{CE73B98A-90B1-3A31-3101-C2154F4680BF}"/>
              </a:ext>
            </a:extLst>
          </p:cNvPr>
          <p:cNvCxnSpPr/>
          <p:nvPr/>
        </p:nvCxnSpPr>
        <p:spPr>
          <a:xfrm>
            <a:off x="570850" y="1254620"/>
            <a:ext cx="403037" cy="0"/>
          </a:xfrm>
          <a:prstGeom prst="straightConnector1">
            <a:avLst/>
          </a:prstGeom>
          <a:noFill/>
          <a:ln w="38100" cap="rnd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5E1E15B1-D5E6-C715-209B-5F3351871741}"/>
              </a:ext>
            </a:extLst>
          </p:cNvPr>
          <p:cNvSpPr txBox="1"/>
          <p:nvPr/>
        </p:nvSpPr>
        <p:spPr>
          <a:xfrm>
            <a:off x="570850" y="822223"/>
            <a:ext cx="535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C63"/>
              </a:buClr>
              <a:buSzPts val="2400"/>
              <a:buFont typeface="Arial"/>
              <a:buNone/>
            </a:pPr>
            <a:r>
              <a:rPr 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0</a:t>
            </a:r>
            <a:r>
              <a:rPr lang="en-US" altLang="ko-KR" sz="2400" b="0" i="0" u="none" strike="noStrike" cap="none" dirty="0">
                <a:solidFill>
                  <a:srgbClr val="610C6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6</a:t>
            </a:r>
            <a:endParaRPr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225D6937-4B0F-BF12-1013-80A66C994EEF}"/>
              </a:ext>
            </a:extLst>
          </p:cNvPr>
          <p:cNvSpPr txBox="1"/>
          <p:nvPr/>
        </p:nvSpPr>
        <p:spPr>
          <a:xfrm>
            <a:off x="570850" y="532938"/>
            <a:ext cx="79622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lang="ko-KR" sz="1400">
                <a:solidFill>
                  <a:srgbClr val="BFBFB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Team5</a:t>
            </a:r>
            <a:endParaRPr sz="1400" b="0" i="0" u="none" strike="noStrike" cap="none">
              <a:solidFill>
                <a:srgbClr val="BFBFB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3" name="Google Shape;126;p3">
            <a:extLst>
              <a:ext uri="{FF2B5EF4-FFF2-40B4-BE49-F238E27FC236}">
                <a16:creationId xmlns:a16="http://schemas.microsoft.com/office/drawing/2014/main" id="{548B2B88-5488-3726-ED80-1502E30F1233}"/>
              </a:ext>
            </a:extLst>
          </p:cNvPr>
          <p:cNvSpPr txBox="1"/>
          <p:nvPr/>
        </p:nvSpPr>
        <p:spPr>
          <a:xfrm>
            <a:off x="529275" y="1356782"/>
            <a:ext cx="3354662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accent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실행 결과</a:t>
            </a:r>
            <a:endParaRPr sz="1800" dirty="0">
              <a:solidFill>
                <a:srgbClr val="0C0C0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74E3531-2F9D-4F43-9643-A680085F7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638" y="1917785"/>
            <a:ext cx="5731510" cy="180149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F65CEDD-420A-D497-E5B2-68A7ED944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8038" y="2427155"/>
            <a:ext cx="5731510" cy="241681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25EEA27-DC55-1DA0-3ECA-23CBD48FCF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2888" y="3551840"/>
            <a:ext cx="5731510" cy="190436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C1F8B53-78BB-EBD8-92EC-D24035E081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7738" y="4164079"/>
            <a:ext cx="5731510" cy="185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728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퍼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10C63"/>
      </a:accent1>
      <a:accent2>
        <a:srgbClr val="7879B2"/>
      </a:accent2>
      <a:accent3>
        <a:srgbClr val="5D667B"/>
      </a:accent3>
      <a:accent4>
        <a:srgbClr val="00ABB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783</Words>
  <Application>Microsoft Office PowerPoint</Application>
  <PresentationFormat>와이드스크린</PresentationFormat>
  <Paragraphs>224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7" baseType="lpstr">
      <vt:lpstr>Arial</vt:lpstr>
      <vt:lpstr>Pretendard ExtraBold</vt:lpstr>
      <vt:lpstr>Pretendard Medium</vt:lpstr>
      <vt:lpstr>Malgun Gothic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Jung Taewon</dc:creator>
  <cp:lastModifiedBy>이성재</cp:lastModifiedBy>
  <cp:revision>17</cp:revision>
  <dcterms:created xsi:type="dcterms:W3CDTF">2022-03-08T09:40:54Z</dcterms:created>
  <dcterms:modified xsi:type="dcterms:W3CDTF">2026-06-03T23:44:01Z</dcterms:modified>
</cp:coreProperties>
</file>